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7" r:id="rId10"/>
    <p:sldId id="262" r:id="rId11"/>
    <p:sldId id="263" r:id="rId12"/>
    <p:sldId id="265" r:id="rId13"/>
    <p:sldId id="264" r:id="rId14"/>
    <p:sldId id="266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EAEECA-1B07-450C-AE0A-93076067E6AA}" v="612" dt="2022-12-15T21:19:16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15.12.2022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099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15.12.2022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31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15.12.2022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8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15.12.2022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9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15.12.2022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674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15.12.2022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148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15.12.2022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981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15.12.2022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091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15.12.2022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817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15.12.2022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787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15.12.2022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85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72480-10DA-4FB4-BEAE-2A1DEA90F248}" type="datetimeFigureOut">
              <a:rPr lang="tr-TR" smtClean="0"/>
              <a:t>15.12.2022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46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>
                <a:cs typeface="Calibri Light"/>
              </a:rPr>
              <a:t>GÖRÜNTÜ İŞLEME TEKNİKLERİ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dirty="0">
                <a:cs typeface="Calibri"/>
              </a:rPr>
              <a:t>ŞEVKET KARABULUT</a:t>
            </a:r>
            <a:endParaRPr lang="tr-TR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D8B7143-3D27-DA9B-9010-15DBEAEE17A6}"/>
              </a:ext>
            </a:extLst>
          </p:cNvPr>
          <p:cNvSpPr txBox="1"/>
          <p:nvPr/>
        </p:nvSpPr>
        <p:spPr>
          <a:xfrm>
            <a:off x="397564" y="331304"/>
            <a:ext cx="29817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/>
              <a:t>02205076038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DA33EE74-52FB-0799-8625-974E33A000B9}"/>
              </a:ext>
            </a:extLst>
          </p:cNvPr>
          <p:cNvSpPr txBox="1"/>
          <p:nvPr/>
        </p:nvSpPr>
        <p:spPr>
          <a:xfrm>
            <a:off x="9740347" y="215347"/>
            <a:ext cx="25013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/>
              <a:t>15.12.2022</a:t>
            </a:r>
            <a:endParaRPr lang="tr-T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4B725A-ED27-06ED-0EC5-EA9F1B00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578"/>
            <a:ext cx="10515600" cy="1325563"/>
          </a:xfrm>
        </p:spPr>
        <p:txBody>
          <a:bodyPr/>
          <a:lstStyle/>
          <a:p>
            <a:r>
              <a:rPr lang="tr-TR" dirty="0">
                <a:cs typeface="Calibri Light"/>
              </a:rPr>
              <a:t>Özet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DACD315-8521-8236-D6E2-59B3C3B6A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4909"/>
            <a:ext cx="11349486" cy="5587789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Son yıllarda, diyabete bağlı retina hastalığı körlüğün önde</a:t>
            </a:r>
          </a:p>
          <a:p>
            <a:r>
              <a:rPr lang="tr-TR" dirty="0">
                <a:ea typeface="+mn-lt"/>
                <a:cs typeface="+mn-lt"/>
              </a:rPr>
              <a:t>gelen nedenlerinden biri haline gelmiştir. Bu hastalığın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önüne geçebilmek için retina ağ yapısının doğru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bölütlenmesi gerekir. Retina ağ yapısının doğru ve hızlı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bölütlenmesi için bilgisayar destekli tanı sistemlerine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ihtiyaç duyulur. Bu makalede, renkli retina </a:t>
            </a:r>
            <a:r>
              <a:rPr lang="tr-TR" dirty="0" err="1">
                <a:ea typeface="+mn-lt"/>
                <a:cs typeface="+mn-lt"/>
              </a:rPr>
              <a:t>fundus</a:t>
            </a:r>
            <a:endParaRPr lang="tr-TR" dirty="0" err="1"/>
          </a:p>
          <a:p>
            <a:r>
              <a:rPr lang="tr-TR" dirty="0">
                <a:ea typeface="+mn-lt"/>
                <a:cs typeface="+mn-lt"/>
              </a:rPr>
              <a:t>görüntüsü üzerinde retina damarlarını otomatik olarak</a:t>
            </a:r>
            <a:endParaRPr lang="tr-TR" dirty="0"/>
          </a:p>
          <a:p>
            <a:r>
              <a:rPr lang="tr-TR" dirty="0" err="1">
                <a:ea typeface="+mn-lt"/>
                <a:cs typeface="+mn-lt"/>
              </a:rPr>
              <a:t>bölütleyen</a:t>
            </a:r>
            <a:r>
              <a:rPr lang="tr-TR" dirty="0">
                <a:ea typeface="+mn-lt"/>
                <a:cs typeface="+mn-lt"/>
              </a:rPr>
              <a:t> bir yöntem önerilmiştir. Retina damar ağ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yapısını </a:t>
            </a:r>
            <a:r>
              <a:rPr lang="tr-TR" dirty="0" err="1">
                <a:ea typeface="+mn-lt"/>
                <a:cs typeface="+mn-lt"/>
              </a:rPr>
              <a:t>bölütlemek</a:t>
            </a:r>
            <a:r>
              <a:rPr lang="tr-TR" dirty="0">
                <a:ea typeface="+mn-lt"/>
                <a:cs typeface="+mn-lt"/>
              </a:rPr>
              <a:t> için morfolojik işlemlere dayalı bir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yöntem retina görüntüleri üzerine uygulanmıştır.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Morfolojik işlemlerin uygulandığı </a:t>
            </a:r>
            <a:r>
              <a:rPr lang="tr-TR" dirty="0" err="1">
                <a:ea typeface="+mn-lt"/>
                <a:cs typeface="+mn-lt"/>
              </a:rPr>
              <a:t>fundus</a:t>
            </a:r>
            <a:r>
              <a:rPr lang="tr-TR" dirty="0">
                <a:ea typeface="+mn-lt"/>
                <a:cs typeface="+mn-lt"/>
              </a:rPr>
              <a:t> görüntüsüne üç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farklı eşikleme yöntemi uygulanmıştır. Bu eşikleme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yöntemleri; Çoklu Eşikleme, Maksimum Entropi Tabanlı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Eşikleme ve Bulanık Kümeleme Tabanlı Eşikleme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yöntemleridir. Eşikleme sonucunda bölütlenmiş damar</a:t>
            </a:r>
            <a:endParaRPr lang="tr-TR" dirty="0"/>
          </a:p>
          <a:p>
            <a:pPr marL="0" indent="0"/>
            <a:r>
              <a:rPr lang="tr-TR" dirty="0">
                <a:ea typeface="+mn-lt"/>
                <a:cs typeface="+mn-lt"/>
              </a:rPr>
              <a:t>görüntüleri elde edilmiştir.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771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E45853D-495A-412B-29C7-2A68437D1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1059"/>
            <a:ext cx="11349486" cy="61916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Bu makalede amaç farklı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eşikleme algoritmalarının aynı görüntüler üzerindeki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performans karşılaştırmasını sağlamaktır. Uygulanan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yöntem, herkese açık olarak sunulan retina görüntü veri seti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üzerinde doğrulanmıştır. Deneysel sonuçlar, önerilen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yöntemin doğru bir şekilde tespit edebildiğini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göstermektedir. Eşikleme algoritmalarının 40 görüntüden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oluşan veri seti üzerindeki doğruluk oranı Bulanık Mantık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Tabanlı Eşikleme için 0.952, Maksimum </a:t>
            </a:r>
            <a:r>
              <a:rPr lang="tr-TR" dirty="0" err="1">
                <a:ea typeface="+mn-lt"/>
                <a:cs typeface="+mn-lt"/>
              </a:rPr>
              <a:t>Entopi</a:t>
            </a:r>
            <a:r>
              <a:rPr lang="tr-TR" dirty="0">
                <a:ea typeface="+mn-lt"/>
                <a:cs typeface="+mn-lt"/>
              </a:rPr>
              <a:t> Tabanlı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Eşikleme için 0.950 ve Çoklu Eşikleme için 0.925 olarak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hesaplanmıştır.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72420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C4F3D4-28BB-34A7-A0EC-31BBE30E6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cs typeface="Calibri Light"/>
              </a:rPr>
              <a:t>Giriş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B67801-EED1-C01F-4810-2DAFE2E1F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49486" cy="502707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Diyabete bağlı retina bozuklukları kişilerde körlüğe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sebep olan ve Diyabetik Retinopati olarak adlandırılan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en önemli hastalıklardan biridir. Bu hastalığın erken teşhisi kişilerde görme yetisinin kaybolmaması açısından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önemlidir. Retina görüntülerinin tespit edilmesi için bilgisayar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destekli sistemler geliştirilmiştir. Bu sistemler yenilikçi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yöntemler kullanarak sürekli geliştirilmektedir. Literatürde retina damar bölütleme işlemi işin geleneksel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yöntemler ve son zamanlarda popüler hale gelen derin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öğrenme yöntemleri önerilmiştir. Derin öğrenme yöntemleri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ile retina damar bölütleme sistemlerinin geliştirilmesi daha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sağlam sonuçlar verir ancak donanım bağlılığı gerektirir. Bu makalede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geleneksel bir yöntem olan morfolojik tabanlı bir yöntem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kullanılır. Retinanın oksijensiz kalması sonucu retinada istenmeyen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yeni damarlar oluşur. Bu damarlar hassas bir yapıda olup DR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hastalığının habercisidir.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0392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9A225C8-8700-D8FC-5659-5E1410C2A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211"/>
            <a:ext cx="11349486" cy="6795487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   Bu istenmeyen damarları tespit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etmek için retina damar ağ yapısının bilinmesi gerekir. Bu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makalede, retina damar ağ yapısını otomatik olarak</a:t>
            </a:r>
            <a:endParaRPr lang="tr-TR" dirty="0"/>
          </a:p>
          <a:p>
            <a:r>
              <a:rPr lang="tr-TR" dirty="0" err="1">
                <a:ea typeface="+mn-lt"/>
                <a:cs typeface="+mn-lt"/>
              </a:rPr>
              <a:t>bölütleyen</a:t>
            </a:r>
            <a:r>
              <a:rPr lang="tr-TR" dirty="0">
                <a:ea typeface="+mn-lt"/>
                <a:cs typeface="+mn-lt"/>
              </a:rPr>
              <a:t> morfolojik tabanlı bir yöntem önerilmiştir. Bu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yöntem morfolojik işlemlere dayalı iki farklı yöntemden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esinlenerek oluşturulmuştur. Bu yöntemde, ilk önce RGB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renk uzayındaki görüntüler gri ölçekli görüntülere</a:t>
            </a:r>
            <a:endParaRPr lang="tr-TR"/>
          </a:p>
          <a:p>
            <a:r>
              <a:rPr lang="tr-TR" dirty="0">
                <a:ea typeface="+mn-lt"/>
                <a:cs typeface="+mn-lt"/>
              </a:rPr>
              <a:t>dönüştürülmüştür. Daha sonra, gri ölçekli görüntünün tersi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üzerinde üst-şapka, alt-şapka ve morfolojik açma yöntemi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uygulanmıştır. Morfolojik üst ve alt şapka yöntemin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kullanılması ile retina damalarının belirginleştirilmesi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sağlanmıştır. Belirginleştirilmiş retina görüntülerini</a:t>
            </a:r>
            <a:endParaRPr lang="tr-TR" dirty="0"/>
          </a:p>
          <a:p>
            <a:r>
              <a:rPr lang="tr-TR" dirty="0" err="1">
                <a:ea typeface="+mn-lt"/>
                <a:cs typeface="+mn-lt"/>
              </a:rPr>
              <a:t>bölütlemek</a:t>
            </a:r>
            <a:r>
              <a:rPr lang="tr-TR" dirty="0">
                <a:ea typeface="+mn-lt"/>
                <a:cs typeface="+mn-lt"/>
              </a:rPr>
              <a:t> için üç farklı eşikleme yöntemi kullanılmıştır.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Kullanılan eşikleme yöntemleri Çoklu Eşikleme yöntemi,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Maksimum Entropi Tabanlı Eşikleme yöntemi ve Bulanık</a:t>
            </a:r>
            <a:endParaRPr lang="tr-TR"/>
          </a:p>
          <a:p>
            <a:r>
              <a:rPr lang="tr-TR" dirty="0">
                <a:ea typeface="+mn-lt"/>
                <a:cs typeface="+mn-lt"/>
              </a:rPr>
              <a:t>Kümeleme Tabanlı Eşikleme yöntemidir. Önerilen yöntem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literatürdeki diğer geleneksel yöntemlerle de kıyaslanabilir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olması için halka açık olarak sunulan DRIVE veri seti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üzerinde test edilmiştir. Bu makalede, literatürdeki mevcut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çalışmalardan farklı olarak retina </a:t>
            </a:r>
            <a:r>
              <a:rPr lang="tr-TR" dirty="0" err="1">
                <a:ea typeface="+mn-lt"/>
                <a:cs typeface="+mn-lt"/>
              </a:rPr>
              <a:t>fundus</a:t>
            </a:r>
            <a:r>
              <a:rPr lang="tr-TR" dirty="0">
                <a:ea typeface="+mn-lt"/>
                <a:cs typeface="+mn-lt"/>
              </a:rPr>
              <a:t> görüntüleri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üzerinde farklı eşik algoritmalarının kıyaslanması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yapılmıştır.</a:t>
            </a:r>
            <a:endParaRPr lang="tr-TR" dirty="0"/>
          </a:p>
          <a:p>
            <a:endParaRPr lang="tr-T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7503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CEF8169-5722-FAE6-3C08-347088AE0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cs typeface="Calibri Light"/>
              </a:rPr>
              <a:t>Metaryel</a:t>
            </a:r>
            <a:r>
              <a:rPr lang="tr-TR" dirty="0">
                <a:cs typeface="Calibri Light"/>
              </a:rPr>
              <a:t> ve Metot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BBDB65F-4A85-42D0-76E7-8ADFC20C3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Bu bölüm, önerilen yöntemin arkasındaki ilgili teorik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materyal ve metotların kısa bir incelemesini içerir. İlgili her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çalışma sonraki alt bölümlerde detaylandırılmıştır.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93888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053BE7-952A-0287-E2CA-715BFD3CF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cs typeface="Calibri Light"/>
              </a:rPr>
              <a:t>Eşikleme Yöntemleri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F16FB9F-BDB4-FDC1-F60A-5D358B6CB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Görüntü eşikleme sadeliği ve sağlamlığı nedeni ile en sık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kullanılan görüntü bölütleme yöntemlerinden biridir.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Eşikleme işlemi, gri ölçekli bir görünün yoğunluk seviyesine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göre sınıflara ayrıldığı bir işlemdir. Bu sınıflandırma işlemi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için tanımlanmış kurallara uygun bir eşik değeri seçmek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gerekir.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28990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C345DBF-89FE-1766-303A-77713E39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cs typeface="Calibri Light"/>
              </a:rPr>
              <a:t>Çok Seviyeli Eşikleme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F3F5694-383F-2EA1-7DCA-08F82586C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Gri ölçekli görüntüyü birkaç farklı bölgeye ayırabilen bir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işlemdir.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34247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6AAAE5F-4880-3EB3-9F95-3B1FF5EEA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cs typeface="Calibri Light"/>
              </a:rPr>
              <a:t>Veri Seti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F46124A-3005-E97C-9AC4-030A2C4CB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Önerilen yöntem diğer yöntemlerle kıyaslanabilir olması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açısından halka açık olarak sunulan DRIVE veri seti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üzerinde test edilmiştir. DRIVE veri setindeki görüntüler 45° görüş alanında Canon 3CCD ile çekilmiştir. Görüntülerin her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biri 565 × 584 piksel boyutunda 20 eğitim ve 20 test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görüntüsünden oluşmaktadır. Veri setindeki damar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pikselleri, deneyimli bir göz doktoru tarafından eğitilmiş üç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gözlemci tarafından manuel olarak bölümlere ayrılmıştır.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Test seti iki farklı gözlemci tarafından iki kez</a:t>
            </a:r>
            <a:endParaRPr lang="tr-TR" dirty="0"/>
          </a:p>
          <a:p>
            <a:r>
              <a:rPr lang="tr-TR" dirty="0" err="1">
                <a:ea typeface="+mn-lt"/>
                <a:cs typeface="+mn-lt"/>
              </a:rPr>
              <a:t>bölütlendirilmiş</a:t>
            </a:r>
            <a:r>
              <a:rPr lang="tr-TR" dirty="0">
                <a:ea typeface="+mn-lt"/>
                <a:cs typeface="+mn-lt"/>
              </a:rPr>
              <a:t> görüntülerden oluşur.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09573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6340E99-3530-00DD-2582-AC0C1A300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cs typeface="Calibri Light"/>
              </a:rPr>
              <a:t>Morfolojik İşlemler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3CA60F9-B47D-59DA-F604-E4FE121B6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49486" cy="50270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Morfolojik işlemlerin temel amacı, görüntünün temel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özelliklerini korumak ve görüntüyü basitleştirmektir. Bu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çalışmada, üst-şapka ve alt-şapka dönüşümleri kan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damarlarına belirginlik kazandırmak için kullanılır. </a:t>
            </a:r>
            <a:endParaRPr lang="tr-TR"/>
          </a:p>
          <a:p>
            <a:endParaRPr lang="tr-T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7668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78AEEC-DEC0-1342-728E-C72EB766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cs typeface="Calibri Light"/>
              </a:rPr>
              <a:t>Kullanılan Yöntem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543EFD7-1FCB-DAC2-A7E6-032C33E4C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Önerilen yöntemde, veri setinde bulunan </a:t>
            </a:r>
            <a:r>
              <a:rPr lang="tr-TR" dirty="0" err="1">
                <a:ea typeface="+mn-lt"/>
                <a:cs typeface="+mn-lt"/>
              </a:rPr>
              <a:t>fundus</a:t>
            </a:r>
            <a:endParaRPr lang="tr-TR" dirty="0" err="1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görüntülerine ait damarların bölütlenmesi sağlanmıştır.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Öncelikle, veri setinde bulunan görüntüler RGB renk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uzayından gri ölçekli görüntülere dönüştürülür. Gri ölçekli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görüntülerin tersi üzerinde önerilen sistem uygulanır.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00814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E0450D-D820-068E-5879-9BDDD4FAC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>
                <a:cs typeface="Calibri Light"/>
              </a:rPr>
              <a:t>Bölütleme Sonuçları</a:t>
            </a:r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EBEE864-7B80-F476-C571-0C4FA14D3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98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Üç farklı eşikleme algoritması iyileştirilmiş </a:t>
            </a:r>
            <a:r>
              <a:rPr lang="tr-TR" dirty="0" err="1">
                <a:ea typeface="+mn-lt"/>
                <a:cs typeface="+mn-lt"/>
              </a:rPr>
              <a:t>fundus</a:t>
            </a:r>
            <a:endParaRPr lang="tr-TR" dirty="0" err="1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görüntüleri üzerinde uygulanarak damar piksellerinin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bölütlenmesi sağlanmıştır. İyileştirilmiş görüntüler eşikleme işlemine tabi tutulduktan sonra çıktı görüntüleri üzerinde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performans iyileştirilmesi yapılmıştır. Performans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iyileştirme yönteminde damara ait olmayan damar benzeri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görüntüler morfolojik işlemler kullanılarak yok edilmiştir.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Bu aşama bağlı bileşen analizi kullanılarak önce küçük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nesneler silinmiş daha sonrada damardan kopuk küçük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boşluklar doldurulmuştur.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95736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3F7002-DAC0-8258-4123-C3BD4C66A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6196"/>
            <a:ext cx="10515600" cy="1325563"/>
          </a:xfrm>
        </p:spPr>
        <p:txBody>
          <a:bodyPr/>
          <a:lstStyle/>
          <a:p>
            <a:r>
              <a:rPr lang="tr-TR" dirty="0">
                <a:cs typeface="Calibri Light"/>
              </a:rPr>
              <a:t>Morfolojik İşlemler 2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593DE20-FE8B-718F-624B-CE03E597E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6720"/>
            <a:ext cx="11349486" cy="5975978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Retina kan damarları, retina arka planına göre daha koyu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görünürler. Ancak, bazı durumlarda kan damarlarının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merkez çizgisi bölgesinde parlaklık görünür. Bu görünüm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yansımalardan kaynaklanmaktadır. Bu durumu ortadan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kaldırmak için ilk önce morfolojik açma işlemi uygulanır.</a:t>
            </a:r>
            <a:endParaRPr lang="tr-TR" dirty="0"/>
          </a:p>
          <a:p>
            <a:r>
              <a:rPr lang="tr-TR">
                <a:ea typeface="+mn-lt"/>
                <a:cs typeface="+mn-lt"/>
              </a:rPr>
              <a:t>Morfolojik açma işlemi için yarıçapı 21 olan bir disk</a:t>
            </a:r>
            <a:endParaRPr lang="tr-TR"/>
          </a:p>
          <a:p>
            <a:r>
              <a:rPr lang="tr-TR">
                <a:ea typeface="+mn-lt"/>
                <a:cs typeface="+mn-lt"/>
              </a:rPr>
              <a:t>oluşturulur. Oluşturulan bu disk gri ölçekli görüntünün</a:t>
            </a:r>
            <a:endParaRPr lang="tr-TR"/>
          </a:p>
          <a:p>
            <a:r>
              <a:rPr lang="tr-TR">
                <a:ea typeface="+mn-lt"/>
                <a:cs typeface="+mn-lt"/>
              </a:rPr>
              <a:t>tersine uygulanarak morfolojik açma işlemi yapılmış olur.</a:t>
            </a:r>
            <a:endParaRPr lang="tr-TR"/>
          </a:p>
          <a:p>
            <a:r>
              <a:rPr lang="tr-TR">
                <a:ea typeface="+mn-lt"/>
                <a:cs typeface="+mn-lt"/>
              </a:rPr>
              <a:t>Daha sonra uzunluğu 21 olan bir çizgisel yapı elemanı</a:t>
            </a:r>
            <a:endParaRPr lang="tr-TR"/>
          </a:p>
          <a:p>
            <a:r>
              <a:rPr lang="tr-TR">
                <a:ea typeface="+mn-lt"/>
                <a:cs typeface="+mn-lt"/>
              </a:rPr>
              <a:t>oluşturulur. Oluşturulan bu çizgisel yapı elemanı gri ölçekli</a:t>
            </a:r>
            <a:endParaRPr lang="tr-TR"/>
          </a:p>
          <a:p>
            <a:r>
              <a:rPr lang="tr-TR" dirty="0">
                <a:ea typeface="+mn-lt"/>
                <a:cs typeface="+mn-lt"/>
              </a:rPr>
              <a:t>görüntünün tersine uygulanarak üst-şapka ve alt-şapka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dönüşümleri tamamlanmış olur. Belirli bir açıda yönlendirilmiş çizgisel bir yapılandırma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elamanı </a:t>
            </a:r>
            <a:r>
              <a:rPr lang="tr-TR" dirty="0" err="1">
                <a:ea typeface="+mn-lt"/>
                <a:cs typeface="+mn-lt"/>
              </a:rPr>
              <a:t>fundus</a:t>
            </a:r>
            <a:r>
              <a:rPr lang="tr-TR" dirty="0">
                <a:ea typeface="+mn-lt"/>
                <a:cs typeface="+mn-lt"/>
              </a:rPr>
              <a:t> içerisinde tutulamadığında bir damarı veya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damarın bir kısmını yok edebilir. Bu problem genelde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yapılandırma elemanı dikey yönlere sahip olduğunda ve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yapılandırma elemanı damar genişliğinden daha büyük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olduğu durumlarda ortaya çıkmıştır. Oysa yapılandırma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elemanının yönü ile damar paralel olduğunda bir yok olma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olayı meydana gelmeyecektir.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0318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E91A3E59-7B34-C7B1-540A-F8E3457F5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643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Bu makalede, paylaşıma açık olarak sunulan DRIVE veri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seti üzerinde morfolojik işlemlere dayalı bir damar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iyileştirme yöntemi kullanılmıştır. Damar iyileştirme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aşamasından sonra Çoklu Eşikleme, Bulanık Mantık Tabanlı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Eşikleme ve Maksimum Eşikleme yöntemleri kullanılarak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damar bölütlemesi yapılmıştır. Bu yöntem temelde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morfolojik işlemlere dayanmış olsa da asıl amaç eşikleme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algoritmalarının yöntem üzerindeki performanslarının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karşılaştırılmasıdır. Eşikleme yöntemleri, doğası ne olursa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olsun tüm veriler üzerinde kullanılabilir. Ancak, farklı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eşikleme yöntemlerinin aynı iyileştirilmiş görüntü üzerinde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farklı sonuçlar verdiği gözlemlenmiştir.</a:t>
            </a:r>
            <a:endParaRPr lang="tr-TR" dirty="0"/>
          </a:p>
        </p:txBody>
      </p:sp>
      <p:sp>
        <p:nvSpPr>
          <p:cNvPr id="8" name="Başlık 7">
            <a:extLst>
              <a:ext uri="{FF2B5EF4-FFF2-40B4-BE49-F238E27FC236}">
                <a16:creationId xmlns:a16="http://schemas.microsoft.com/office/drawing/2014/main" id="{8A3CC855-FFEE-5F72-757A-65F14B21D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72883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1846CCD-1254-67F3-F706-27E67D994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6041"/>
            <a:ext cx="11349486" cy="6306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Bu makalede,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Bulanık Mantık Tabanlı Eşikleme yönteminin ortalama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doğruluk oranı 0.952 olarak hesaplanmış ve diğer iki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eşikleme yönteminden daha yüksek bir değere sahip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olmuştur.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Bu makalede elde edilen deneysel sonuçlar tatmin edici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bir seviyededir. Önerilen yöntem geliştirilmeye açıktır.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Halka açık bir veri seti kullanıldığı için karşılaştırması ve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doğruluğu test edilebilir durumdadır. İleriki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çalışmalarımızda, bu makalede elde ettiğimiz eşikleme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yöntemleri tecrübelerimizi kullanarak popüler algoritmalar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ile görüntü eşikleme üzerinde çalışmayı hedeflemekteyiz.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41050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9873FF-1087-B365-1C8A-80C11B441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87034"/>
          </a:xfrm>
        </p:spPr>
        <p:txBody>
          <a:bodyPr/>
          <a:lstStyle/>
          <a:p>
            <a:r>
              <a:rPr lang="tr-TR" dirty="0">
                <a:cs typeface="Calibri Light"/>
              </a:rPr>
              <a:t>Görüntü İşleme Teknikleri Fındık Meyvesinin Tespit ve Sınıflandırılması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00799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46ED96-DC2F-F82A-F383-FBA9CCFC4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>
                <a:cs typeface="Calibri Light"/>
              </a:rPr>
              <a:t>Özet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A9376E9-8D52-3265-D5E6-14C46F5FA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35109" cy="5027073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Yapılan çalışmada, ortamda bulunan nesnelerin gerçek zamanlı olarak tespit edilmesi, sınıflandırılması ve elde edilen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sonuçlar sunulmaktadır. Önerilen yönteme ait deneysel çalışmaların gerçekleştirilmesinde fındık meyvesi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kullanılmaktadır. Çalışma ortamında bulunan fındıklara ait görüntü, kamera ile alındıktan sonra görüntü işleme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teknikleri kullanılarak işlenmektedir. Fındıkların görüntü düzlemi üzerinde kapladıkları boyut ve alan verileri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hesaplanmaktadır. Elde edilen veriler değerlendirilerek, fındıklar gerçek zamanlı olarak küçük (K1), orta (K2) ve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büyük (K3) olmak üzere üç sınıfa ayrılmaktadır. Bu işlem ortalama tabanlı sınıflandırma ve K-</a:t>
            </a:r>
            <a:r>
              <a:rPr lang="tr-TR" dirty="0" err="1">
                <a:ea typeface="+mn-lt"/>
                <a:cs typeface="+mn-lt"/>
              </a:rPr>
              <a:t>means</a:t>
            </a:r>
            <a:r>
              <a:rPr lang="tr-TR" dirty="0">
                <a:ea typeface="+mn-lt"/>
                <a:cs typeface="+mn-lt"/>
              </a:rPr>
              <a:t> kümeleme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yöntemleri kullanılarak gerçekleştirilmektedir. Küme merkezlerinin belirlenmesi ve sınıflandırma işlemi fındık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meyvesi verilerinden elde edilen bilgi </a:t>
            </a:r>
            <a:r>
              <a:rPr lang="tr-TR" dirty="0" err="1">
                <a:ea typeface="+mn-lt"/>
                <a:cs typeface="+mn-lt"/>
              </a:rPr>
              <a:t>veritabanı</a:t>
            </a:r>
            <a:r>
              <a:rPr lang="tr-TR" dirty="0">
                <a:ea typeface="+mn-lt"/>
                <a:cs typeface="+mn-lt"/>
              </a:rPr>
              <a:t> kullanılarak sağlanmaktadır. Çalışma ortamında bulunan fındık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meyveleri, görüntü işleme teknikleri kullanılarak %100 başarımla tespit edilmektedir. Fındık meyvelerinin, ortalama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tabanlı ve K-</a:t>
            </a:r>
            <a:r>
              <a:rPr lang="tr-TR" dirty="0" err="1">
                <a:ea typeface="+mn-lt"/>
                <a:cs typeface="+mn-lt"/>
              </a:rPr>
              <a:t>means</a:t>
            </a:r>
            <a:r>
              <a:rPr lang="tr-TR" dirty="0">
                <a:ea typeface="+mn-lt"/>
                <a:cs typeface="+mn-lt"/>
              </a:rPr>
              <a:t> kümeleme yöntemleri kullanılarak sınıflandırılması karşılaştırılmaktadır. Karşılaştırma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sonucunda, gerçeklenen iki yöntemin %90 ile %100 oranında benzerlik gösterdiği bulunmaktadır.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01277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FF4F1C-D34E-85D3-E84C-E61D2E8F3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cs typeface="Calibri Light"/>
              </a:rPr>
              <a:t>Giriş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4514ACA-A982-B045-B9F4-20605CC3A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35109" cy="502707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Görüntü işleme ve bilgisayarlı görme</a:t>
            </a:r>
            <a:endParaRPr lang="tr-TR" dirty="0">
              <a:cs typeface="Calibri"/>
            </a:endParaRPr>
          </a:p>
          <a:p>
            <a:r>
              <a:rPr lang="tr-TR" dirty="0">
                <a:ea typeface="+mn-lt"/>
                <a:cs typeface="+mn-lt"/>
              </a:rPr>
              <a:t>uygulamaları son yıllarda ciddi bir artış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göstermektedir. Özellikle araç içi otomasyon,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güvenlik sistemleri, gezgin robot uygulamaları,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askeri alanlarda dost ve düşman kuvvetlerinin</a:t>
            </a:r>
            <a:endParaRPr lang="tr-TR"/>
          </a:p>
          <a:p>
            <a:r>
              <a:rPr lang="tr-TR" dirty="0">
                <a:ea typeface="+mn-lt"/>
                <a:cs typeface="+mn-lt"/>
              </a:rPr>
              <a:t>gözetlenmesi, tarım uygulamaları, biyomedikal ve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tıp alanlarında, coğrafi bilgi sistemlerinde, tasarım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ve imalat uygulamalarında yaygın olarak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kullanılmaktadır. Görüntü işleme teknikleri kullanılarak yapılan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çalışmalarda, ilk olarak kameradan görüntüler</a:t>
            </a:r>
            <a:endParaRPr lang="tr-TR" dirty="0"/>
          </a:p>
          <a:p>
            <a:pPr marL="0" indent="0"/>
            <a:r>
              <a:rPr lang="tr-TR" dirty="0">
                <a:ea typeface="+mn-lt"/>
                <a:cs typeface="+mn-lt"/>
              </a:rPr>
              <a:t>alınmaktadır.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32911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3CF1719-32DC-9FE3-CC64-2F267487B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-298"/>
            <a:ext cx="11349486" cy="6852996"/>
          </a:xfrm>
        </p:spPr>
        <p:txBody>
          <a:bodyPr>
            <a:normAutofit lnSpcReduction="10000"/>
          </a:bodyPr>
          <a:lstStyle/>
          <a:p>
            <a:r>
              <a:rPr lang="tr-TR"/>
              <a:t>Alınan görüntüler üzerinde, görüntü</a:t>
            </a:r>
          </a:p>
          <a:p>
            <a:r>
              <a:rPr lang="tr-TR"/>
              <a:t>ön işleme adımları uygulanmakta ve ilgilenilen</a:t>
            </a:r>
          </a:p>
          <a:p>
            <a:r>
              <a:rPr lang="tr-TR"/>
              <a:t>nesnelere ait özellik çıkartımı</a:t>
            </a:r>
          </a:p>
          <a:p>
            <a:r>
              <a:rPr lang="tr-TR"/>
              <a:t>gerçekleştirilmektedir. Ortamda bulunan</a:t>
            </a:r>
          </a:p>
          <a:p>
            <a:r>
              <a:rPr lang="tr-TR"/>
              <a:t>nesnelerin doğru bir şekilde tespit edilmesi, özellik</a:t>
            </a:r>
          </a:p>
          <a:p>
            <a:r>
              <a:rPr lang="tr-TR"/>
              <a:t>çıkarımı aşaması için çok önemlidir. Nesnelerin</a:t>
            </a:r>
          </a:p>
          <a:p>
            <a:r>
              <a:rPr lang="tr-TR"/>
              <a:t>tespit edilmesi veya tanınması amacıyla yapılan</a:t>
            </a:r>
          </a:p>
          <a:p>
            <a:r>
              <a:rPr lang="tr-TR"/>
              <a:t>çalışmalarda farklı yöntemler önerilmektedir.</a:t>
            </a:r>
          </a:p>
          <a:p>
            <a:r>
              <a:rPr lang="tr-TR"/>
              <a:t>Nesnelere ait basit özellikler kullanılarak hızlı ve</a:t>
            </a:r>
          </a:p>
          <a:p>
            <a:r>
              <a:rPr lang="tr-TR"/>
              <a:t>etkili nesne tanımaya yönelik çalışmalar karmaşık arka plan çıkarımı ile tanıma şekil</a:t>
            </a:r>
          </a:p>
          <a:p>
            <a:r>
              <a:rPr lang="tr-TR"/>
              <a:t>tanıma, renk tanıma, kenar ve köşe tanıma,</a:t>
            </a:r>
          </a:p>
          <a:p>
            <a:r>
              <a:rPr lang="tr-TR"/>
              <a:t>istatistiksel örüntü tanıma, şablon eşleme gibi</a:t>
            </a:r>
          </a:p>
          <a:p>
            <a:r>
              <a:rPr lang="tr-TR"/>
              <a:t>çeşitli yöntemler kullanılmaktadır.</a:t>
            </a:r>
          </a:p>
        </p:txBody>
      </p:sp>
    </p:spTree>
    <p:extLst>
      <p:ext uri="{BB962C8B-B14F-4D97-AF65-F5344CB8AC3E}">
        <p14:creationId xmlns:p14="http://schemas.microsoft.com/office/powerpoint/2010/main" val="4215443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25A1D5-D7BF-8402-557C-75A0B2F3D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cs typeface="Calibri Light"/>
              </a:rPr>
              <a:t>Görüntü Ön İşleme Aşaması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88DDB8-31BE-F7AF-E012-D8C279E96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49486" cy="502707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Görüntü ön işleme aşamasında, kameradan alınan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görüntü üzerinde sırasıyla filtreleme, resmin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grileştirilmesi ve ikili resme çevrilmesi işlemleri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uygulanmaktadır. Bu işlemlerin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gerçekleştirilmesinden sonra görüntü üzerinde yer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alan ve ilgilenilen nesneler daha belirgin ve kolay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işlenebilir hale getirilmektedir. Filtre uygulama adımında, görüntü üzerinde yer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alan tuz biber gürültülerinin giderilmesi ve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resimde yer alan gereksiz ayrıntıların azaltılması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sağlanmaktadır.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49830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2FC0928-53FE-DAC1-A9DC-71809CDC5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8531"/>
            <a:ext cx="11349486" cy="636416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Kameradan alınan görüntü matrisi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üzerinde, 3x3, 5x5 </a:t>
            </a:r>
            <a:r>
              <a:rPr lang="tr-TR" dirty="0" err="1">
                <a:ea typeface="+mn-lt"/>
                <a:cs typeface="+mn-lt"/>
              </a:rPr>
              <a:t>vb</a:t>
            </a:r>
            <a:r>
              <a:rPr lang="tr-TR" dirty="0">
                <a:ea typeface="+mn-lt"/>
                <a:cs typeface="+mn-lt"/>
              </a:rPr>
              <a:t> küçük bir çekirdek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matrisinin gezdirilmesi sonucunda filtreleme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işlemi gerçekleşmektedir. Çalışmada, 3x3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boyutlarında çekirdek matrisi kullanan, ortalama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filtreleme yöntemi kullanılmaktadır. Çekirdek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matrisin boyutlarının büyük seçilmesi, görüntü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üzerindeki gürültüleri azaltırken,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bulanıklaştırmada yapmaktadır. Çalışmada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ortalama filtre uygulaması için seçilen çekirdek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matris, denklem 1’de sunulmaktadır. Çekirdek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matrisi, görüntü üzerinde kayan pencere yöntemi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kullanılarak gezdirilmekte ve her bir piksel için,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yeni değerler hesaplanmaktadır.</a:t>
            </a:r>
            <a:endParaRPr lang="tr-TR" dirty="0"/>
          </a:p>
          <a:p>
            <a:endParaRPr lang="tr-T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8566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C74CB2-91BB-6D62-1900-72C03B56B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+mj-lt"/>
                <a:cs typeface="+mj-lt"/>
              </a:rPr>
              <a:t>Nesne Bulma ve Özellik Çıkarımı İşlemi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D48AFAF-C762-004F-28E2-D4C84155B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34467" cy="50270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Nesne bulma ve özellik çıkarımı işlemi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aşamasında, görüntü ön işleme aşamasından</a:t>
            </a:r>
          </a:p>
          <a:p>
            <a:r>
              <a:rPr lang="tr-TR" dirty="0">
                <a:ea typeface="+mn-lt"/>
                <a:cs typeface="+mn-lt"/>
              </a:rPr>
              <a:t>geçirilerek elde edilen ikili görüntü üzerinde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nesnelerin bulunması ve her bir nesneye ait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özelliklerin çıkarımı işlemleri</a:t>
            </a:r>
            <a:endParaRPr lang="tr-TR"/>
          </a:p>
          <a:p>
            <a:r>
              <a:rPr lang="tr-TR" dirty="0">
                <a:ea typeface="+mn-lt"/>
                <a:cs typeface="+mn-lt"/>
              </a:rPr>
              <a:t>gerçekleştirilmektedir. Nesnelerin görüntü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düzleminde kaplamış olduğu alan, nesne boyları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ve nesne merkezine ait koordinatlar özellik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çıkarım vektörlerinde bulunmaktadır.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19138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F75906C-345F-B265-7955-4233AED7B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1022"/>
            <a:ext cx="11335109" cy="642167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Görüntü ön işleme sonunda elde edilen ikili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resimde her bir nesneye ait dış hatlar, Suzuki ve</a:t>
            </a:r>
            <a:endParaRPr lang="tr-TR" dirty="0"/>
          </a:p>
          <a:p>
            <a:r>
              <a:rPr lang="tr-TR" dirty="0" err="1">
                <a:ea typeface="+mn-lt"/>
                <a:cs typeface="+mn-lt"/>
              </a:rPr>
              <a:t>Abe</a:t>
            </a:r>
            <a:r>
              <a:rPr lang="tr-TR" dirty="0">
                <a:ea typeface="+mn-lt"/>
                <a:cs typeface="+mn-lt"/>
              </a:rPr>
              <a:t> tarafından 1985 yılında geliştirilmiş olan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algoritma kullanılarak bulunmuştur [20,22].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Her bir nesneye ait dış hatlar ve nesne numaraları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belirlendikten sonra, nesnenin alanını hesaplamak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için moment alma işlemi gerçekleştirilmektedir.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Denklem 7’de moment alma işlemini gösteren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genel formül sunulmaktadır [21]. Denklem 7’de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G(</a:t>
            </a:r>
            <a:r>
              <a:rPr lang="tr-TR" dirty="0" err="1">
                <a:ea typeface="+mn-lt"/>
                <a:cs typeface="+mn-lt"/>
              </a:rPr>
              <a:t>x,y</a:t>
            </a:r>
            <a:r>
              <a:rPr lang="tr-TR" dirty="0">
                <a:ea typeface="+mn-lt"/>
                <a:cs typeface="+mn-lt"/>
              </a:rPr>
              <a:t>), momenti alınacak ikili görüntüyü, </a:t>
            </a:r>
            <a:r>
              <a:rPr lang="tr-TR" dirty="0" err="1">
                <a:ea typeface="+mn-lt"/>
                <a:cs typeface="+mn-lt"/>
              </a:rPr>
              <a:t>mpq</a:t>
            </a:r>
            <a:endParaRPr lang="tr-TR" dirty="0" err="1"/>
          </a:p>
          <a:p>
            <a:r>
              <a:rPr lang="tr-TR" dirty="0">
                <a:ea typeface="+mn-lt"/>
                <a:cs typeface="+mn-lt"/>
              </a:rPr>
              <a:t>momenti, p ve q değerleri ise, momentin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derecesini belirlemektedir. Denklemde yer alan x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ve y değerleri, görüntüyü oluşturan matristeki satır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ve sütunları ifade etmektedir. </a:t>
            </a: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8318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376F194-CFEF-20F7-FD04-E00676B2B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823"/>
            <a:ext cx="10515600" cy="1325563"/>
          </a:xfrm>
        </p:spPr>
        <p:txBody>
          <a:bodyPr/>
          <a:lstStyle/>
          <a:p>
            <a:r>
              <a:rPr lang="tr-TR" dirty="0">
                <a:cs typeface="Calibri Light"/>
              </a:rPr>
              <a:t>Sınıflandırma İşlemi Aşamasına Ait Adımlar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9AACEB4-A735-B86B-A85A-BFA40E875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927"/>
            <a:ext cx="11349486" cy="547277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Kümeleme, fiziksel veya soyut nesneleri benzer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nesne sınıfları içerisinde gruplama sürecidir. Veri kümeleme, küme analizi olarak da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tanımlanmaktadır. Kümeleme analizinde desen,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nokta veya nesnelerin doğal olarak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gruplandırılması yapılmaktadır. Kümeleme analizi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ile çok değişkenli özellikler içeren veriler</a:t>
            </a:r>
            <a:endParaRPr lang="tr-TR" dirty="0"/>
          </a:p>
          <a:p>
            <a:r>
              <a:rPr lang="tr-TR" dirty="0" err="1">
                <a:ea typeface="+mn-lt"/>
                <a:cs typeface="+mn-lt"/>
              </a:rPr>
              <a:t>kümelendirilebilmektedir</a:t>
            </a:r>
            <a:r>
              <a:rPr lang="tr-TR" dirty="0">
                <a:ea typeface="+mn-lt"/>
                <a:cs typeface="+mn-lt"/>
              </a:rPr>
              <a:t>. Kümeleme yöntemi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örüntü tanıma, veri analizi, görüntü işleme, market araştırmaları, vb. gibi çeşitli alanlarda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kullanılmaktadır.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Önerilen çalışmada ortamda bulunan nesneler,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alan, çap, yarıçap, genişlik, yükseklik vb.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özellikleri kullanılarak sınıflandırılmaktadır.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Yapılan çalışmada, görüntü işleme teknikleri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kullanılarak bulunan nesnelerin sınıflandırma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işleminde iki farklı kümeleme yöntemi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önerilmektedir.</a:t>
            </a:r>
            <a:endParaRPr lang="tr-TR" dirty="0"/>
          </a:p>
          <a:p>
            <a:endParaRPr lang="tr-T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6220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4777FD1-8B25-6C09-21F4-60DC8CE6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cs typeface="Calibri Light"/>
              </a:rPr>
              <a:t>Ortalama Tabanlı Sınıflandırma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3B67C8-E514-FD35-EB62-D8DB352FC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173"/>
            <a:ext cx="11291977" cy="5501525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Önerilen ilk yöntemde ortamda bulunan nesneler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kendi aralarında otomatik olarak 3 sınıfa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ayrıştırılmaktadır. Sınıflandırma işleminde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oluşturulan ilk küme merkezi hesaplanırken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denklem 13’te sunulan formül kullanılmaktadır.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Denklemde K2, ortanca (ikinci) küme merkezini,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N ortamda bulunan nesne sayısını, </a:t>
            </a:r>
            <a:r>
              <a:rPr lang="tr-TR" dirty="0" err="1">
                <a:ea typeface="+mn-lt"/>
                <a:cs typeface="+mn-lt"/>
              </a:rPr>
              <a:t>Ax</a:t>
            </a:r>
            <a:r>
              <a:rPr lang="tr-TR" dirty="0">
                <a:ea typeface="+mn-lt"/>
                <a:cs typeface="+mn-lt"/>
              </a:rPr>
              <a:t> (m00) x</a:t>
            </a:r>
            <a:endParaRPr lang="tr-TR" dirty="0"/>
          </a:p>
          <a:p>
            <a:r>
              <a:rPr lang="tr-TR" dirty="0" err="1">
                <a:ea typeface="+mn-lt"/>
                <a:cs typeface="+mn-lt"/>
              </a:rPr>
              <a:t>indisli</a:t>
            </a:r>
            <a:r>
              <a:rPr lang="tr-TR" dirty="0">
                <a:ea typeface="+mn-lt"/>
                <a:cs typeface="+mn-lt"/>
              </a:rPr>
              <a:t> nesnenin alanını ifade etmektedir. Diğer iki küme merkezi hesaplanırken ilk olarak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en büyük (</a:t>
            </a:r>
            <a:r>
              <a:rPr lang="tr-TR" dirty="0" err="1">
                <a:ea typeface="+mn-lt"/>
                <a:cs typeface="+mn-lt"/>
              </a:rPr>
              <a:t>maksAlan</a:t>
            </a:r>
            <a:r>
              <a:rPr lang="tr-TR" dirty="0">
                <a:ea typeface="+mn-lt"/>
                <a:cs typeface="+mn-lt"/>
              </a:rPr>
              <a:t>) ve en küçük (</a:t>
            </a:r>
            <a:r>
              <a:rPr lang="tr-TR" dirty="0" err="1">
                <a:ea typeface="+mn-lt"/>
                <a:cs typeface="+mn-lt"/>
              </a:rPr>
              <a:t>minAlan</a:t>
            </a:r>
            <a:r>
              <a:rPr lang="tr-TR" dirty="0">
                <a:ea typeface="+mn-lt"/>
                <a:cs typeface="+mn-lt"/>
              </a:rPr>
              <a:t>) alan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hesaplanmaktadır. K1 ve K3 küme merkezlerinin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hesaplanmasını gösteren ifadeler, denklem 14 ve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denklem 15’te sunulmaktadır. Nesneleri sınıflandırma aşamasında, ilgili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nesnenin alanı ile her bir küme merkezi arasındaki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mesafe hesaplanmaktadır. Nesneler kendilerine en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yakın noktada bulunan küme merkezlerine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yerleştirilerek sınıflandırılmaktadır.</a:t>
            </a:r>
            <a:endParaRPr lang="tr-TR" dirty="0"/>
          </a:p>
          <a:p>
            <a:endParaRPr lang="tr-TR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6305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01EFBA8-45C5-416D-6CEF-A3350BC0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ea typeface="+mj-lt"/>
                <a:cs typeface="+mj-lt"/>
              </a:rPr>
              <a:t>K-</a:t>
            </a:r>
            <a:r>
              <a:rPr lang="tr-TR" dirty="0" err="1">
                <a:ea typeface="+mj-lt"/>
                <a:cs typeface="+mj-lt"/>
              </a:rPr>
              <a:t>means</a:t>
            </a:r>
            <a:r>
              <a:rPr lang="tr-TR">
                <a:ea typeface="+mj-lt"/>
                <a:cs typeface="+mj-lt"/>
              </a:rPr>
              <a:t> Kümeleme Yöntemi</a:t>
            </a:r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CBCD4AB-0D11-F145-FE1A-DB52BDEBC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91977" cy="50270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K-</a:t>
            </a:r>
            <a:r>
              <a:rPr lang="tr-TR" dirty="0" err="1">
                <a:ea typeface="+mn-lt"/>
                <a:cs typeface="+mn-lt"/>
              </a:rPr>
              <a:t>means</a:t>
            </a:r>
            <a:r>
              <a:rPr lang="tr-TR" dirty="0">
                <a:ea typeface="+mn-lt"/>
                <a:cs typeface="+mn-lt"/>
              </a:rPr>
              <a:t> algoritması, N adet veri nesnesinin K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adet kümeye bölünmesidir. K-</a:t>
            </a:r>
            <a:r>
              <a:rPr lang="tr-TR" dirty="0" err="1">
                <a:ea typeface="+mn-lt"/>
                <a:cs typeface="+mn-lt"/>
              </a:rPr>
              <a:t>means</a:t>
            </a:r>
            <a:r>
              <a:rPr lang="tr-TR" dirty="0">
                <a:ea typeface="+mn-lt"/>
                <a:cs typeface="+mn-lt"/>
              </a:rPr>
              <a:t> kümeleme,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karesel hatayı en aza indirgemek için N tane veriyi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 adet kümeye bölümlemeyi amaçlamaktadır. K-</a:t>
            </a:r>
            <a:r>
              <a:rPr lang="tr-TR" dirty="0" err="1">
                <a:ea typeface="+mn-lt"/>
                <a:cs typeface="+mn-lt"/>
              </a:rPr>
              <a:t>means</a:t>
            </a:r>
            <a:r>
              <a:rPr lang="tr-TR" dirty="0">
                <a:ea typeface="+mn-lt"/>
                <a:cs typeface="+mn-lt"/>
              </a:rPr>
              <a:t> algoritmasının temel amacı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bölümleme sonucunda elde edilen küme içindeki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verilerin benzerliklerinin maksimum, kümeler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arasındaki benzerliklerin ise minimum olmasıdır.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K-</a:t>
            </a:r>
            <a:r>
              <a:rPr lang="tr-TR" dirty="0" err="1">
                <a:ea typeface="+mn-lt"/>
                <a:cs typeface="+mn-lt"/>
              </a:rPr>
              <a:t>means</a:t>
            </a:r>
            <a:r>
              <a:rPr lang="tr-TR" dirty="0">
                <a:ea typeface="+mn-lt"/>
                <a:cs typeface="+mn-lt"/>
              </a:rPr>
              <a:t> algoritmasının çalışma sürecini maddeler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halinde sunulan 4 aşamada ifade edilmektedir.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72926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74836A-9D5D-74F3-9BE0-45B51CBEB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cs typeface="Calibri Light"/>
              </a:rPr>
              <a:t>Deneysel Çalışma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CBBD174-7469-5538-FB27-5CB8C3A03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35109" cy="5027073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Önerilen yöntem ile ortamda bulunan fındıkların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tespit edilerek kümelenmesine yönelik deneysel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çalışma yapılmaktadır. Çalışmada 1.3 Megapiksel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CMOS, 640 x 480 çözünürlükteki </a:t>
            </a:r>
            <a:r>
              <a:rPr lang="tr-TR" dirty="0" err="1">
                <a:ea typeface="+mn-lt"/>
                <a:cs typeface="+mn-lt"/>
              </a:rPr>
              <a:t>Logitech</a:t>
            </a:r>
            <a:r>
              <a:rPr lang="tr-TR" dirty="0">
                <a:ea typeface="+mn-lt"/>
                <a:cs typeface="+mn-lt"/>
              </a:rPr>
              <a:t> C110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USB kamera kullanılarak görüntüler alınmaktadır.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Alınan görüntüler, Ubuntu 12.04 işletim sistemine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sahip bir bilgisayar üzerinde işlenmektedir.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Görüntülerin işlenmesi ve sınıflandırılması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aşamalarında </a:t>
            </a:r>
            <a:r>
              <a:rPr lang="tr-TR" dirty="0" err="1">
                <a:ea typeface="+mn-lt"/>
                <a:cs typeface="+mn-lt"/>
              </a:rPr>
              <a:t>OpenCV</a:t>
            </a:r>
            <a:r>
              <a:rPr lang="tr-TR" dirty="0">
                <a:ea typeface="+mn-lt"/>
                <a:cs typeface="+mn-lt"/>
              </a:rPr>
              <a:t> Kütüphanesi ve </a:t>
            </a:r>
            <a:r>
              <a:rPr lang="tr-TR" dirty="0" err="1">
                <a:ea typeface="+mn-lt"/>
                <a:cs typeface="+mn-lt"/>
              </a:rPr>
              <a:t>Weka</a:t>
            </a:r>
            <a:endParaRPr lang="tr-TR" dirty="0" err="1"/>
          </a:p>
          <a:p>
            <a:r>
              <a:rPr lang="tr-TR" dirty="0">
                <a:ea typeface="+mn-lt"/>
                <a:cs typeface="+mn-lt"/>
              </a:rPr>
              <a:t>yazılımları kullanılmaktadır. Şekil 6’da deneysel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çalışmadan alınan örnek bir görüntü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sunulmaktadır. Şekil 6 (a)’da kameradan alınan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görüntüye ait ilgilenilen kısım sunulmaktadır.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Kameradan alınan ham görüntüde, çalışma alanı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dışında kalan dörtgenin bulunduğu alan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kesilmiştir. Bu işlemden sonra görüntü ön işleme aşamasına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geçilmektedir.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42650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832094F-B157-CC76-9C22-7A9F3402C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7927"/>
            <a:ext cx="11291977" cy="623477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Görüntü ön işleme aşamasında,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resim üzerinde filtreleme, grileştirme, </a:t>
            </a:r>
            <a:r>
              <a:rPr lang="tr-TR" dirty="0" err="1">
                <a:ea typeface="+mn-lt"/>
                <a:cs typeface="+mn-lt"/>
              </a:rPr>
              <a:t>eşikleşme</a:t>
            </a:r>
            <a:endParaRPr lang="tr-TR" dirty="0" err="1"/>
          </a:p>
          <a:p>
            <a:r>
              <a:rPr lang="tr-TR" dirty="0">
                <a:ea typeface="+mn-lt"/>
                <a:cs typeface="+mn-lt"/>
              </a:rPr>
              <a:t>ve morfolojik işlem uygulanmaktadır. Bu işlem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basamakları sonucunda elde edilen görüntü Şekil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6 (b)’de sunulmaktadır. Bu görüntü nesne bulma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ve özellik belirleme aşamasına girdi olarak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verilmektedir. Ortamda bulunan ve ilgilenilen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nesnelerin dış hatları belirlenmektedir. Çalışmada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kullanılacak alan, çap, yarıçap ve merkez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noktasına ait koordinatlar elde edilmektedir. Şekil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6 (c)’de ortamda bulunan nesnelerin dış hatları ve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indis numaraları sunulmaktadır.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Ortalama tabanlı ve K-</a:t>
            </a:r>
            <a:r>
              <a:rPr lang="tr-TR" dirty="0" err="1">
                <a:ea typeface="+mn-lt"/>
                <a:cs typeface="+mn-lt"/>
              </a:rPr>
              <a:t>means</a:t>
            </a:r>
            <a:r>
              <a:rPr lang="tr-TR" dirty="0">
                <a:ea typeface="+mn-lt"/>
                <a:cs typeface="+mn-lt"/>
              </a:rPr>
              <a:t> algoritmasına göre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kümeleme işleminde, piksel cinsinden bulunan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alan değerleri kullanılarak küme merkezleri elde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edilmektedir. Küme merkezleri elde edilirken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çalışma ortamına 150 adet fındık yerleştirilerek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bilgi </a:t>
            </a:r>
            <a:r>
              <a:rPr lang="tr-TR" dirty="0" err="1">
                <a:ea typeface="+mn-lt"/>
                <a:cs typeface="+mn-lt"/>
              </a:rPr>
              <a:t>veritabanı</a:t>
            </a:r>
            <a:r>
              <a:rPr lang="tr-TR" dirty="0">
                <a:ea typeface="+mn-lt"/>
                <a:cs typeface="+mn-lt"/>
              </a:rPr>
              <a:t> oluşturulmaktadır.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33788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84C750-1F46-F8BE-B7B7-83C41B4A6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1"/>
            <a:ext cx="10515600" cy="1325563"/>
          </a:xfrm>
        </p:spPr>
        <p:txBody>
          <a:bodyPr/>
          <a:lstStyle/>
          <a:p>
            <a:r>
              <a:rPr lang="tr-TR" dirty="0">
                <a:cs typeface="Calibri Light"/>
              </a:rPr>
              <a:t>Sonuçlar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B4ACED1-8289-9328-B9AD-82E731104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418"/>
            <a:ext cx="11349486" cy="553028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/>
            <a:r>
              <a:rPr lang="tr-TR" dirty="0">
                <a:ea typeface="+mn-lt"/>
                <a:cs typeface="+mn-lt"/>
              </a:rPr>
              <a:t>Makalede, görüntü işleme teknikleri kullanılarak</a:t>
            </a:r>
            <a:endParaRPr lang="tr-TR" dirty="0">
              <a:cs typeface="Calibri" panose="020F0502020204030204"/>
            </a:endParaRPr>
          </a:p>
          <a:p>
            <a:r>
              <a:rPr lang="tr-TR" dirty="0">
                <a:ea typeface="+mn-lt"/>
                <a:cs typeface="+mn-lt"/>
              </a:rPr>
              <a:t>ortamda bulunan nesnelerin tespit ve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sınıflandırılmasına yönelik çalışma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sunulmaktadır. Çalışma ortamında bulunan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nesnelerin tespit ve sınıflandırılması amacıyla üç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aşamalı bir yöntem önerilmektedir. Önerilen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yöntemin ilk aşaması olan görüntü ön işleme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bölümünde kameradan alınan görüntü üzerinde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filtreleme, grileştirme, ikili resme çevirme ve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morfolojik işlemler uygulanmaktadır. Nesne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tespiti ve özellik çıkarımı aşamasında ise, ortamda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yer alan nesnelerin bulunması ve alan, boyut ve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konum gibi özellik bilgileri elde edilmektedir.</a:t>
            </a:r>
            <a:endParaRPr lang="tr-TR" dirty="0"/>
          </a:p>
          <a:p>
            <a:r>
              <a:rPr lang="tr-TR" dirty="0">
                <a:ea typeface="+mn-lt"/>
                <a:cs typeface="+mn-lt"/>
              </a:rPr>
              <a:t>Sınıflandırma aşamasında, bilgi </a:t>
            </a:r>
            <a:r>
              <a:rPr lang="tr-TR" dirty="0" err="1">
                <a:ea typeface="+mn-lt"/>
                <a:cs typeface="+mn-lt"/>
              </a:rPr>
              <a:t>veritabanında</a:t>
            </a:r>
            <a:endParaRPr lang="tr-TR" dirty="0" err="1"/>
          </a:p>
          <a:p>
            <a:r>
              <a:rPr lang="tr-TR" dirty="0">
                <a:ea typeface="+mn-lt"/>
                <a:cs typeface="+mn-lt"/>
              </a:rPr>
              <a:t>bulunan veriler, ortalama tabanlı ve K-</a:t>
            </a:r>
            <a:r>
              <a:rPr lang="tr-TR" dirty="0" err="1">
                <a:ea typeface="+mn-lt"/>
                <a:cs typeface="+mn-lt"/>
              </a:rPr>
              <a:t>means</a:t>
            </a:r>
            <a:endParaRPr lang="tr-TR" dirty="0" err="1"/>
          </a:p>
          <a:p>
            <a:r>
              <a:rPr lang="tr-TR" dirty="0">
                <a:ea typeface="+mn-lt"/>
                <a:cs typeface="+mn-lt"/>
              </a:rPr>
              <a:t>algoritmaları kullanılarak sınıflandırılmaktadır.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5156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i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29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29</vt:i4>
      </vt:variant>
    </vt:vector>
  </HeadingPairs>
  <TitlesOfParts>
    <vt:vector size="30" baseType="lpstr">
      <vt:lpstr>Ofis Teması</vt:lpstr>
      <vt:lpstr>GÖRÜNTÜ İŞLEME TEKNİKLERİ</vt:lpstr>
      <vt:lpstr>Özet</vt:lpstr>
      <vt:lpstr>PowerPoint Sunusu</vt:lpstr>
      <vt:lpstr>Giriş</vt:lpstr>
      <vt:lpstr>PowerPoint Sunusu</vt:lpstr>
      <vt:lpstr>Metaryel ve Metot</vt:lpstr>
      <vt:lpstr>Eşikleme Yöntemleri</vt:lpstr>
      <vt:lpstr>Çok Seviyeli Eşikleme</vt:lpstr>
      <vt:lpstr>Veri Seti</vt:lpstr>
      <vt:lpstr>Morfolojik İşlemler</vt:lpstr>
      <vt:lpstr>Kullanılan Yöntem</vt:lpstr>
      <vt:lpstr>Bölütleme Sonuçları</vt:lpstr>
      <vt:lpstr>Morfolojik İşlemler 2</vt:lpstr>
      <vt:lpstr>PowerPoint Sunusu</vt:lpstr>
      <vt:lpstr>PowerPoint Sunusu</vt:lpstr>
      <vt:lpstr>Görüntü İşleme Teknikleri Fındık Meyvesinin Tespit ve Sınıflandırılması</vt:lpstr>
      <vt:lpstr>Özet</vt:lpstr>
      <vt:lpstr>Giriş</vt:lpstr>
      <vt:lpstr>PowerPoint Sunusu</vt:lpstr>
      <vt:lpstr>Görüntü Ön İşleme Aşaması</vt:lpstr>
      <vt:lpstr>PowerPoint Sunusu</vt:lpstr>
      <vt:lpstr>Nesne Bulma ve Özellik Çıkarımı İşlemi</vt:lpstr>
      <vt:lpstr>PowerPoint Sunusu</vt:lpstr>
      <vt:lpstr>Sınıflandırma İşlemi Aşamasına Ait Adımlar</vt:lpstr>
      <vt:lpstr>Ortalama Tabanlı Sınıflandırma</vt:lpstr>
      <vt:lpstr>K-means Kümeleme Yöntemi</vt:lpstr>
      <vt:lpstr>Deneysel Çalışma</vt:lpstr>
      <vt:lpstr>PowerPoint Sunusu</vt:lpstr>
      <vt:lpstr>Sonuçlar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/>
  <cp:lastModifiedBy/>
  <cp:revision>134</cp:revision>
  <dcterms:created xsi:type="dcterms:W3CDTF">2022-12-15T20:57:32Z</dcterms:created>
  <dcterms:modified xsi:type="dcterms:W3CDTF">2022-12-15T21:19:32Z</dcterms:modified>
</cp:coreProperties>
</file>