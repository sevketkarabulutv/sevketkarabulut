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9758DD7-7D05-41F9-3600-24B1CA033F49}"/>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E4C19FC5-75EC-6875-FB13-AE5B7204396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AF110E3C-B92A-0EC7-8A98-92CF4D3D48BB}"/>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5" name="Alt Bilgi Yer Tutucusu 4">
            <a:extLst>
              <a:ext uri="{FF2B5EF4-FFF2-40B4-BE49-F238E27FC236}">
                <a16:creationId xmlns:a16="http://schemas.microsoft.com/office/drawing/2014/main" id="{396DF088-B37B-1D05-0D7D-8B4F3ACAFEC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CF928DDB-CD69-7833-0D98-E849C87C6F93}"/>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2201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7847F99-54CD-0FC0-6B98-4D709BD94A36}"/>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57B1FFC-3879-18DE-9D0D-D396FEE3A1EE}"/>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FF8428CD-BEB0-A687-36C9-4424D8E3D879}"/>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5" name="Alt Bilgi Yer Tutucusu 4">
            <a:extLst>
              <a:ext uri="{FF2B5EF4-FFF2-40B4-BE49-F238E27FC236}">
                <a16:creationId xmlns:a16="http://schemas.microsoft.com/office/drawing/2014/main" id="{AFC1C5E4-8D5B-3A47-0449-6F0BB1648DB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D05306CE-BEFF-A362-5877-6386FBC70C9A}"/>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1051627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F90998A-0AD9-D4AA-0D8E-60EFFB3149E7}"/>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13389075-C1DC-0E76-7F54-719F0439CE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005B0EC4-D4FE-322B-ED6C-D93881CB4085}"/>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5" name="Alt Bilgi Yer Tutucusu 4">
            <a:extLst>
              <a:ext uri="{FF2B5EF4-FFF2-40B4-BE49-F238E27FC236}">
                <a16:creationId xmlns:a16="http://schemas.microsoft.com/office/drawing/2014/main" id="{A609607D-0CC6-5A9E-B476-7B5C70A49FB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8AC7370-C2A5-3862-A8E9-DDC233C54E25}"/>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3957815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716D90D-65D4-52DE-2696-85D42F6C8062}"/>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750036FC-209A-B026-8DC1-A592913C4B29}"/>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B86966C4-6169-FFB4-22AC-DCD816A11A2B}"/>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29006317-8CA9-C6D3-7A9C-DA2645DF41FD}"/>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6" name="Alt Bilgi Yer Tutucusu 5">
            <a:extLst>
              <a:ext uri="{FF2B5EF4-FFF2-40B4-BE49-F238E27FC236}">
                <a16:creationId xmlns:a16="http://schemas.microsoft.com/office/drawing/2014/main" id="{92F01D92-AE4E-1345-48BE-2EA4D28D9D1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A01D0D7-38DF-FDE5-8FDF-D5099BD67A2C}"/>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2499086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F79BF98-8435-8A10-E879-FF7ADF1EACFB}"/>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E392F3F9-3246-B1F4-B699-666696590B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F7A5A195-4258-B8C8-A5F3-5AB26724B643}"/>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D83BC96-D649-2761-E362-AF542570C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A69A349B-4136-E80B-B687-E0B93A43535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BF44B4EC-0A16-90D8-994D-7C93F1A67A22}"/>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8" name="Alt Bilgi Yer Tutucusu 7">
            <a:extLst>
              <a:ext uri="{FF2B5EF4-FFF2-40B4-BE49-F238E27FC236}">
                <a16:creationId xmlns:a16="http://schemas.microsoft.com/office/drawing/2014/main" id="{49942D16-6006-0249-C3BF-309D77665D60}"/>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D47C7D0F-4BB9-58A0-D384-614544A859F8}"/>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3931088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19FF24A-9127-37EC-3D08-8247F1E9F3CC}"/>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36B6F76B-B273-31A3-E3F1-F1A897A0C2A0}"/>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4" name="Alt Bilgi Yer Tutucusu 3">
            <a:extLst>
              <a:ext uri="{FF2B5EF4-FFF2-40B4-BE49-F238E27FC236}">
                <a16:creationId xmlns:a16="http://schemas.microsoft.com/office/drawing/2014/main" id="{F6831187-8B07-00BA-FBB3-61CE25824023}"/>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A3300531-1DD7-5770-A10B-830D6A33D334}"/>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1900731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799E19A8-6353-4C8C-426C-AA80A4DA082C}"/>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3" name="Alt Bilgi Yer Tutucusu 2">
            <a:extLst>
              <a:ext uri="{FF2B5EF4-FFF2-40B4-BE49-F238E27FC236}">
                <a16:creationId xmlns:a16="http://schemas.microsoft.com/office/drawing/2014/main" id="{9FDE09FC-F8C3-0364-2B9B-7780B387E4BD}"/>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B223A440-01C3-FB5C-197C-3FB03472FF72}"/>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973641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806B60-3ADA-D3B6-D755-6723C1C09EEC}"/>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4624415-392E-AC32-6E02-3CBAEA0DDA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731098B4-5761-BEC0-D808-357DE72D06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E3ED076-775B-9493-F31F-526BBBDF388A}"/>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6" name="Alt Bilgi Yer Tutucusu 5">
            <a:extLst>
              <a:ext uri="{FF2B5EF4-FFF2-40B4-BE49-F238E27FC236}">
                <a16:creationId xmlns:a16="http://schemas.microsoft.com/office/drawing/2014/main" id="{2EF4F8CC-6A9A-534E-CE93-BC1E6442AFD0}"/>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8684CE93-8651-7BD9-62CD-F871A4F14C32}"/>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42326976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A62EE28-8C12-C3A0-4069-68B894E7255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745CA168-8C33-7327-66F1-A3B0D77839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0F87A3FD-F29D-979D-0C94-02CF3912BC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D58B76B5-7B9B-8C9E-DCC6-543AAE9A0318}"/>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6" name="Alt Bilgi Yer Tutucusu 5">
            <a:extLst>
              <a:ext uri="{FF2B5EF4-FFF2-40B4-BE49-F238E27FC236}">
                <a16:creationId xmlns:a16="http://schemas.microsoft.com/office/drawing/2014/main" id="{207F1C65-D637-11F2-A3C0-16F30E190CC6}"/>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69E3B7E6-5844-F373-0FBA-DF0F26E25A62}"/>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1291910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FBCFB3B-3C82-D601-2C5D-C6225D209B1A}"/>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08E3679A-2C2A-64BB-5394-D5A39036EC9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EA97378-6835-07A6-A2AD-D7E5EB929A5D}"/>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5" name="Alt Bilgi Yer Tutucusu 4">
            <a:extLst>
              <a:ext uri="{FF2B5EF4-FFF2-40B4-BE49-F238E27FC236}">
                <a16:creationId xmlns:a16="http://schemas.microsoft.com/office/drawing/2014/main" id="{1805875E-D569-B375-EE7B-5DE41CF5352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96B1A03-AFAA-DE83-3FAF-8831AC6D1210}"/>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292294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B6106F42-02D8-97BF-4ECA-0EC486753020}"/>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CEBFD7F-C659-6A85-A78A-44D4F6F03649}"/>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DF533D12-ED80-4438-8662-70A8D6EE0092}"/>
              </a:ext>
            </a:extLst>
          </p:cNvPr>
          <p:cNvSpPr>
            <a:spLocks noGrp="1"/>
          </p:cNvSpPr>
          <p:nvPr>
            <p:ph type="dt" sz="half" idx="10"/>
          </p:nvPr>
        </p:nvSpPr>
        <p:spPr/>
        <p:txBody>
          <a:bodyPr/>
          <a:lstStyle/>
          <a:p>
            <a:fld id="{14490509-7D0B-4C2C-B1DE-1D7A280F1530}" type="datetimeFigureOut">
              <a:rPr lang="tr-TR" smtClean="0"/>
              <a:t>17.11.2022</a:t>
            </a:fld>
            <a:endParaRPr lang="tr-TR"/>
          </a:p>
        </p:txBody>
      </p:sp>
      <p:sp>
        <p:nvSpPr>
          <p:cNvPr id="5" name="Alt Bilgi Yer Tutucusu 4">
            <a:extLst>
              <a:ext uri="{FF2B5EF4-FFF2-40B4-BE49-F238E27FC236}">
                <a16:creationId xmlns:a16="http://schemas.microsoft.com/office/drawing/2014/main" id="{15CC1B17-C76C-EB98-0329-71CCB6FE5DC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790C342E-B38E-2C63-BF54-5FA5C0AA74EF}"/>
              </a:ext>
            </a:extLst>
          </p:cNvPr>
          <p:cNvSpPr>
            <a:spLocks noGrp="1"/>
          </p:cNvSpPr>
          <p:nvPr>
            <p:ph type="sldNum" sz="quarter" idx="12"/>
          </p:nvPr>
        </p:nvSpPr>
        <p:spPr/>
        <p:txBody>
          <a:bodyPr/>
          <a:lstStyle/>
          <a:p>
            <a:fld id="{AEEBFB5F-E5E9-4AA3-AD7C-8E4B761B6722}" type="slidenum">
              <a:rPr lang="tr-TR" smtClean="0"/>
              <a:t>‹#›</a:t>
            </a:fld>
            <a:endParaRPr lang="tr-TR"/>
          </a:p>
        </p:txBody>
      </p:sp>
    </p:spTree>
    <p:extLst>
      <p:ext uri="{BB962C8B-B14F-4D97-AF65-F5344CB8AC3E}">
        <p14:creationId xmlns:p14="http://schemas.microsoft.com/office/powerpoint/2010/main" val="151637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3ACCE382-DA4A-1715-DF4A-5FC8F3DDF7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3A6E16A9-6EBA-A8DB-F620-A1FE957D22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BC9338C-38EE-54C1-32B2-ADC05FD935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90509-7D0B-4C2C-B1DE-1D7A280F1530}" type="datetimeFigureOut">
              <a:rPr lang="tr-TR" smtClean="0"/>
              <a:t>17.11.2022</a:t>
            </a:fld>
            <a:endParaRPr lang="tr-TR"/>
          </a:p>
        </p:txBody>
      </p:sp>
      <p:sp>
        <p:nvSpPr>
          <p:cNvPr id="5" name="Alt Bilgi Yer Tutucusu 4">
            <a:extLst>
              <a:ext uri="{FF2B5EF4-FFF2-40B4-BE49-F238E27FC236}">
                <a16:creationId xmlns:a16="http://schemas.microsoft.com/office/drawing/2014/main" id="{62D09499-8151-C6EE-0E12-BF5496FCEE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0FF926A8-6535-756F-747B-96363DDF19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EBFB5F-E5E9-4AA3-AD7C-8E4B761B6722}" type="slidenum">
              <a:rPr lang="tr-TR" smtClean="0"/>
              <a:t>‹#›</a:t>
            </a:fld>
            <a:endParaRPr lang="tr-TR"/>
          </a:p>
        </p:txBody>
      </p:sp>
    </p:spTree>
    <p:extLst>
      <p:ext uri="{BB962C8B-B14F-4D97-AF65-F5344CB8AC3E}">
        <p14:creationId xmlns:p14="http://schemas.microsoft.com/office/powerpoint/2010/main" val="529764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EBB41F5-EF7B-79BB-87B7-E0A902E5C715}"/>
              </a:ext>
            </a:extLst>
          </p:cNvPr>
          <p:cNvSpPr>
            <a:spLocks noGrp="1"/>
          </p:cNvSpPr>
          <p:nvPr>
            <p:ph type="ctrTitle"/>
          </p:nvPr>
        </p:nvSpPr>
        <p:spPr/>
        <p:txBody>
          <a:bodyPr/>
          <a:lstStyle/>
          <a:p>
            <a:r>
              <a:rPr lang="tr-TR" dirty="0"/>
              <a:t>GÖRÜNTÜ İŞLEME TEKNİKLERİ</a:t>
            </a:r>
          </a:p>
        </p:txBody>
      </p:sp>
      <p:sp>
        <p:nvSpPr>
          <p:cNvPr id="3" name="Alt Başlık 2">
            <a:extLst>
              <a:ext uri="{FF2B5EF4-FFF2-40B4-BE49-F238E27FC236}">
                <a16:creationId xmlns:a16="http://schemas.microsoft.com/office/drawing/2014/main" id="{F438234D-74D2-AA69-0F6C-A94934406CF3}"/>
              </a:ext>
            </a:extLst>
          </p:cNvPr>
          <p:cNvSpPr>
            <a:spLocks noGrp="1"/>
          </p:cNvSpPr>
          <p:nvPr>
            <p:ph type="subTitle" idx="1"/>
          </p:nvPr>
        </p:nvSpPr>
        <p:spPr/>
        <p:txBody>
          <a:bodyPr/>
          <a:lstStyle/>
          <a:p>
            <a:r>
              <a:rPr lang="tr-TR" dirty="0"/>
              <a:t>Görüntü İşleme Yöntemleri Kullanılarak Kiraz Meyvesinin Sınıflandırılması</a:t>
            </a:r>
          </a:p>
        </p:txBody>
      </p:sp>
      <p:sp>
        <p:nvSpPr>
          <p:cNvPr id="4" name="Metin kutusu 3">
            <a:extLst>
              <a:ext uri="{FF2B5EF4-FFF2-40B4-BE49-F238E27FC236}">
                <a16:creationId xmlns:a16="http://schemas.microsoft.com/office/drawing/2014/main" id="{258DFE31-ED2E-5B7A-2B15-9AF7CD0277A3}"/>
              </a:ext>
            </a:extLst>
          </p:cNvPr>
          <p:cNvSpPr txBox="1"/>
          <p:nvPr/>
        </p:nvSpPr>
        <p:spPr>
          <a:xfrm>
            <a:off x="169682" y="106829"/>
            <a:ext cx="3167407" cy="646331"/>
          </a:xfrm>
          <a:prstGeom prst="rect">
            <a:avLst/>
          </a:prstGeom>
          <a:noFill/>
        </p:spPr>
        <p:txBody>
          <a:bodyPr wrap="square" rtlCol="0">
            <a:spAutoFit/>
          </a:bodyPr>
          <a:lstStyle/>
          <a:p>
            <a:r>
              <a:rPr lang="tr-TR" dirty="0"/>
              <a:t>Hazırlayan: Şevket KARABULUT</a:t>
            </a:r>
          </a:p>
          <a:p>
            <a:r>
              <a:rPr lang="tr-TR" dirty="0"/>
              <a:t>02205076038</a:t>
            </a:r>
          </a:p>
        </p:txBody>
      </p:sp>
      <p:sp>
        <p:nvSpPr>
          <p:cNvPr id="9" name="Metin kutusu 8">
            <a:extLst>
              <a:ext uri="{FF2B5EF4-FFF2-40B4-BE49-F238E27FC236}">
                <a16:creationId xmlns:a16="http://schemas.microsoft.com/office/drawing/2014/main" id="{04D134DE-7B82-82F5-A956-2C1B4F64AFB5}"/>
              </a:ext>
            </a:extLst>
          </p:cNvPr>
          <p:cNvSpPr txBox="1"/>
          <p:nvPr/>
        </p:nvSpPr>
        <p:spPr>
          <a:xfrm>
            <a:off x="10303497" y="172457"/>
            <a:ext cx="2356701" cy="369332"/>
          </a:xfrm>
          <a:prstGeom prst="rect">
            <a:avLst/>
          </a:prstGeom>
          <a:noFill/>
        </p:spPr>
        <p:txBody>
          <a:bodyPr wrap="square" rtlCol="0">
            <a:spAutoFit/>
          </a:bodyPr>
          <a:lstStyle/>
          <a:p>
            <a:r>
              <a:rPr lang="tr-TR" dirty="0"/>
              <a:t>17.11.2022</a:t>
            </a:r>
          </a:p>
        </p:txBody>
      </p:sp>
    </p:spTree>
    <p:extLst>
      <p:ext uri="{BB962C8B-B14F-4D97-AF65-F5344CB8AC3E}">
        <p14:creationId xmlns:p14="http://schemas.microsoft.com/office/powerpoint/2010/main" val="3682775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D02C092-BDC2-908C-D598-42439C070E1C}"/>
              </a:ext>
            </a:extLst>
          </p:cNvPr>
          <p:cNvSpPr>
            <a:spLocks noGrp="1"/>
          </p:cNvSpPr>
          <p:nvPr>
            <p:ph type="title"/>
          </p:nvPr>
        </p:nvSpPr>
        <p:spPr>
          <a:xfrm>
            <a:off x="762786" y="0"/>
            <a:ext cx="10515600" cy="1325563"/>
          </a:xfrm>
        </p:spPr>
        <p:txBody>
          <a:bodyPr/>
          <a:lstStyle/>
          <a:p>
            <a:r>
              <a:rPr lang="tr-TR" dirty="0"/>
              <a:t>Özet</a:t>
            </a:r>
          </a:p>
        </p:txBody>
      </p:sp>
      <p:sp>
        <p:nvSpPr>
          <p:cNvPr id="3" name="İçerik Yer Tutucusu 2">
            <a:extLst>
              <a:ext uri="{FF2B5EF4-FFF2-40B4-BE49-F238E27FC236}">
                <a16:creationId xmlns:a16="http://schemas.microsoft.com/office/drawing/2014/main" id="{2E95BB02-F98A-FD1D-2621-C3D6C5326FBF}"/>
              </a:ext>
            </a:extLst>
          </p:cNvPr>
          <p:cNvSpPr>
            <a:spLocks noGrp="1"/>
          </p:cNvSpPr>
          <p:nvPr>
            <p:ph idx="1"/>
          </p:nvPr>
        </p:nvSpPr>
        <p:spPr>
          <a:xfrm>
            <a:off x="838200" y="1325562"/>
            <a:ext cx="11353800" cy="5532437"/>
          </a:xfrm>
        </p:spPr>
        <p:txBody>
          <a:bodyPr>
            <a:normAutofit fontScale="85000" lnSpcReduction="20000"/>
          </a:bodyPr>
          <a:lstStyle/>
          <a:p>
            <a:r>
              <a:rPr lang="tr-TR" dirty="0"/>
              <a:t>Dünyada 1500 civarında çeşidi olan kiraz gülgiller familyasındandır. Tatlı aromalı, sulu ve sert çekirdekli bir meyve türü olan kiraz, kalsiyum, çinko, potasyum, lif, C vitamini, demir, tiamin, riboflavin, </a:t>
            </a:r>
            <a:r>
              <a:rPr lang="tr-TR" dirty="0" err="1"/>
              <a:t>niasin</a:t>
            </a:r>
            <a:r>
              <a:rPr lang="tr-TR" dirty="0"/>
              <a:t>, magnezyum, E ve B6 vitaminleri bakımından zengindir. Kiraz dünyada geniş bir yayılım göstermektedir. Ancak dünyada en çok kiraz üreten ilk 6 ülke arasında Türkiye %35’lik pay ile birinci sıradadır. Küreselleşen dünyada ürünlerin kalitesinin belirlenmesi ve tasnif edilmesi ticaretin en önemli unsurlarından biridir. Sebze ve meyveleri kalite ve özelliklerine göre sınıflandırma işlemi genellikle işçiler tarafından el ve göz ile yapılmaktadır. Bu yüzden bir standardın sağlanması zorlaşmaktadır. Yapılan bu çalışmada görüntü işleme yöntemleri kullanılarak kiraz meyvesinin boyutlarına göre sınıflandırılması amaçlanmıştır. Bu amaçla Matlab R2013a programı kullanılarak görüntüsü alınan meyveleri küçük boy, orta boy, büyük boy olarak sınıflandıracak bir çalışma gerçekleştirilmiştir. Yapılan çalışmada kirazlar üst üste gelmeden ayrık olarak resimlenmiştir. Bu sayede sınıflandırma başarısı %100 olarak gerçekleşmiştir. Ancak kirazların üst üste gelmesi durumunda sınıflandırma başarısının düşeceği değerlendirilmektedir. Kiraz meyvesinin klasik sınıflandırma yöntemleri yerine görüntü işleme teknikleri kullanılarak sınıflandırılması ile önemli ihracat ürünlerinden biri olan kiraz meyvesinin uluslararası standartlara uygun olarak tasnif edilmesi sağlanacak ve ülke ekonomisine katkısı dahada artacaktır.</a:t>
            </a:r>
          </a:p>
          <a:p>
            <a:r>
              <a:rPr lang="tr-TR" dirty="0"/>
              <a:t>Anahtar Kelimeler: Görüntü işleme, Kiraz sınıflandırma, Meyve tasnifi, Kalite kontrol.</a:t>
            </a:r>
          </a:p>
        </p:txBody>
      </p:sp>
    </p:spTree>
    <p:extLst>
      <p:ext uri="{BB962C8B-B14F-4D97-AF65-F5344CB8AC3E}">
        <p14:creationId xmlns:p14="http://schemas.microsoft.com/office/powerpoint/2010/main" val="1238666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D0B7C66-FCA7-891A-6438-569DB952BEB1}"/>
              </a:ext>
            </a:extLst>
          </p:cNvPr>
          <p:cNvSpPr>
            <a:spLocks noGrp="1"/>
          </p:cNvSpPr>
          <p:nvPr>
            <p:ph type="title"/>
          </p:nvPr>
        </p:nvSpPr>
        <p:spPr/>
        <p:txBody>
          <a:bodyPr/>
          <a:lstStyle/>
          <a:p>
            <a:r>
              <a:rPr lang="tr-TR" dirty="0"/>
              <a:t>Giriş</a:t>
            </a:r>
          </a:p>
        </p:txBody>
      </p:sp>
      <p:sp>
        <p:nvSpPr>
          <p:cNvPr id="3" name="İçerik Yer Tutucusu 2">
            <a:extLst>
              <a:ext uri="{FF2B5EF4-FFF2-40B4-BE49-F238E27FC236}">
                <a16:creationId xmlns:a16="http://schemas.microsoft.com/office/drawing/2014/main" id="{F7F7D324-E273-E102-0EC2-6AA62FB93A66}"/>
              </a:ext>
            </a:extLst>
          </p:cNvPr>
          <p:cNvSpPr>
            <a:spLocks noGrp="1"/>
          </p:cNvSpPr>
          <p:nvPr>
            <p:ph idx="1"/>
          </p:nvPr>
        </p:nvSpPr>
        <p:spPr/>
        <p:txBody>
          <a:bodyPr>
            <a:normAutofit lnSpcReduction="10000"/>
          </a:bodyPr>
          <a:lstStyle/>
          <a:p>
            <a:r>
              <a:rPr lang="tr-TR" dirty="0"/>
              <a:t>Kiraz, gülgiller familyasındandır. Dünyada 1500 civarında kiraz çeşidi vardır. Dünyada kiraz üretiminin yapıldığı önemli ülkelerin başında yaklaşık 500 bin ton üretimle Türkiye gelmektedir. Türkiye’yi ABD, İran, Çin, İtalya, Özbekistan, İspanya, Şili, Romanya ve Ukrayna takip etmektedir. </a:t>
            </a:r>
          </a:p>
          <a:p>
            <a:r>
              <a:rPr lang="tr-TR" dirty="0"/>
              <a:t>Dünya meyve ticaretinde belirli standartlara göre sınıflandırılmış kaliteli ürünler tercih edilmektedir. Günümüzde artan talep oranlarına bağlı olarak teknolojinin gelişmesi ile birlikte otomatik olarak nesnelerin sınıflandırılması ve tasnif edilmesi önemli bir alan haline gelmiştir. Sınıflandırma işlemi insanlar ve makinalar ile gerçekleştirilebilmektedir.</a:t>
            </a:r>
          </a:p>
        </p:txBody>
      </p:sp>
    </p:spTree>
    <p:extLst>
      <p:ext uri="{BB962C8B-B14F-4D97-AF65-F5344CB8AC3E}">
        <p14:creationId xmlns:p14="http://schemas.microsoft.com/office/powerpoint/2010/main" val="302292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CDBE4C7-55A5-D540-65A5-99D438FE9F1A}"/>
              </a:ext>
            </a:extLst>
          </p:cNvPr>
          <p:cNvSpPr>
            <a:spLocks noGrp="1"/>
          </p:cNvSpPr>
          <p:nvPr>
            <p:ph idx="1"/>
          </p:nvPr>
        </p:nvSpPr>
        <p:spPr>
          <a:xfrm>
            <a:off x="838200" y="565608"/>
            <a:ext cx="11353800" cy="6292392"/>
          </a:xfrm>
        </p:spPr>
        <p:txBody>
          <a:bodyPr/>
          <a:lstStyle/>
          <a:p>
            <a:r>
              <a:rPr lang="tr-TR" dirty="0"/>
              <a:t>Görüntü, gölge, ışık ve çevresel faktörlerden oluşan tümleşik bir ifadedir. Bu tümleşik görüntülerdeki katmanları doğru ve kayıpsız şekilde analiz edebilmek için çeşitli filtre ve ışık kaynaklarına ihtiyaç vardır. Bazı görüntü işleme donanımlarında kullanılan bu ışık kaynakları UR, NIR, IR gibi </a:t>
            </a:r>
            <a:r>
              <a:rPr lang="tr-TR" dirty="0" err="1"/>
              <a:t>infarred</a:t>
            </a:r>
            <a:r>
              <a:rPr lang="tr-TR" dirty="0"/>
              <a:t> ve ultraviole ışınlardır.</a:t>
            </a:r>
          </a:p>
          <a:p>
            <a:r>
              <a:rPr lang="tr-TR" dirty="0"/>
              <a:t>Yapılan çalışmada, ülkemizde yaygın olarak yetiştirilen ve önemli ihracat ürünlerinden biri olan kiraz meyvesinin, Matlab R2013a programı kullanılarak büyüklüklerine göre sınıflandırılması amaçlanmıştır. Bu amaçla, görüntü işleme yöntemleri ile görüntünün arka planı siyah bir zemin haline getirilerek sınıflandırılacak kiraz meyvesinin arka planı temizlenmiştir. Daha sonra elde edilen görüntü çeşitli filtreleme işlemlerine tabi tutulmuş ve belirli algoritmalar ile kirazların sınır alanları belirlenmiştir. Sınırları belirlenen kirazlara ait boyut bilgisi hesaplanarak, kirazlara ait boyutsal sınıflandırma işlemi gerçekleştirilmiştir.</a:t>
            </a:r>
          </a:p>
        </p:txBody>
      </p:sp>
    </p:spTree>
    <p:extLst>
      <p:ext uri="{BB962C8B-B14F-4D97-AF65-F5344CB8AC3E}">
        <p14:creationId xmlns:p14="http://schemas.microsoft.com/office/powerpoint/2010/main" val="266820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D9CF4E1-9114-05E9-AD14-99678F57F7C5}"/>
              </a:ext>
            </a:extLst>
          </p:cNvPr>
          <p:cNvSpPr>
            <a:spLocks noGrp="1"/>
          </p:cNvSpPr>
          <p:nvPr>
            <p:ph type="title"/>
          </p:nvPr>
        </p:nvSpPr>
        <p:spPr>
          <a:xfrm>
            <a:off x="838200" y="18255"/>
            <a:ext cx="10515600" cy="1325563"/>
          </a:xfrm>
        </p:spPr>
        <p:txBody>
          <a:bodyPr/>
          <a:lstStyle/>
          <a:p>
            <a:r>
              <a:rPr lang="tr-TR" dirty="0"/>
              <a:t>Kiraz Meyvesi</a:t>
            </a:r>
          </a:p>
        </p:txBody>
      </p:sp>
      <p:sp>
        <p:nvSpPr>
          <p:cNvPr id="3" name="İçerik Yer Tutucusu 2">
            <a:extLst>
              <a:ext uri="{FF2B5EF4-FFF2-40B4-BE49-F238E27FC236}">
                <a16:creationId xmlns:a16="http://schemas.microsoft.com/office/drawing/2014/main" id="{649D9259-A949-A2CE-E606-9F522F7D1C78}"/>
              </a:ext>
            </a:extLst>
          </p:cNvPr>
          <p:cNvSpPr>
            <a:spLocks noGrp="1"/>
          </p:cNvSpPr>
          <p:nvPr>
            <p:ph idx="1"/>
          </p:nvPr>
        </p:nvSpPr>
        <p:spPr>
          <a:xfrm>
            <a:off x="838200" y="1343818"/>
            <a:ext cx="11353800" cy="5514182"/>
          </a:xfrm>
        </p:spPr>
        <p:txBody>
          <a:bodyPr/>
          <a:lstStyle/>
          <a:p>
            <a:r>
              <a:rPr lang="tr-TR" dirty="0"/>
              <a:t>Latince ismi 'Prunus </a:t>
            </a:r>
            <a:r>
              <a:rPr lang="tr-TR" dirty="0" err="1"/>
              <a:t>avium</a:t>
            </a:r>
            <a:r>
              <a:rPr lang="tr-TR" dirty="0"/>
              <a:t>' olan kiraz ağacı, Gülgiller (</a:t>
            </a:r>
            <a:r>
              <a:rPr lang="tr-TR" dirty="0" err="1"/>
              <a:t>Rosaceae</a:t>
            </a:r>
            <a:r>
              <a:rPr lang="tr-TR" dirty="0"/>
              <a:t>) familyasının bir üyesidir. Dünyada 1500 civarında çeşidi olan kiraz, tatlı aromalı, sulu ve sert çekirdekli bir meyve türüdür. Kiraz; kalsiyum, çinko, potasyum, karotenoidler, lif, ve C vitamini, demir, tiamin, riboflavin, </a:t>
            </a:r>
            <a:r>
              <a:rPr lang="tr-TR" dirty="0" err="1"/>
              <a:t>niasin</a:t>
            </a:r>
            <a:r>
              <a:rPr lang="tr-TR" dirty="0"/>
              <a:t>, magnezyum, E ve B6 vitaminleri bakımından zengin bir meyvedir.</a:t>
            </a:r>
          </a:p>
          <a:p>
            <a:r>
              <a:rPr lang="tr-TR" dirty="0"/>
              <a:t>2014-2018 yılları arası kiraz üretimi incelendiğinde, beş yıllık üretim ortalaması 570 bin ton olan Türkiye’nin dünya liderliğini aldığı, ikinci sırada ise 333 bin ton üretim ile ABD’nin ülkemizi takip ettiği görülmektedir. Aşağıdaki Şekil 1’de ülkeler bazında yıllara göre dünya kiraz üretim miktarları (ton) gösterilmiştir.</a:t>
            </a:r>
          </a:p>
        </p:txBody>
      </p:sp>
    </p:spTree>
    <p:extLst>
      <p:ext uri="{BB962C8B-B14F-4D97-AF65-F5344CB8AC3E}">
        <p14:creationId xmlns:p14="http://schemas.microsoft.com/office/powerpoint/2010/main" val="28469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60EED467-F98A-9836-9458-C762290973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9082" y="2163970"/>
            <a:ext cx="6873836" cy="2530059"/>
          </a:xfrm>
          <a:prstGeom prst="rect">
            <a:avLst/>
          </a:prstGeom>
        </p:spPr>
      </p:pic>
    </p:spTree>
    <p:extLst>
      <p:ext uri="{BB962C8B-B14F-4D97-AF65-F5344CB8AC3E}">
        <p14:creationId xmlns:p14="http://schemas.microsoft.com/office/powerpoint/2010/main" val="564545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8EEEE1C-8F79-D23C-5623-0F235F1A62AA}"/>
              </a:ext>
            </a:extLst>
          </p:cNvPr>
          <p:cNvSpPr>
            <a:spLocks noGrp="1"/>
          </p:cNvSpPr>
          <p:nvPr>
            <p:ph type="title"/>
          </p:nvPr>
        </p:nvSpPr>
        <p:spPr>
          <a:xfrm>
            <a:off x="838200" y="18255"/>
            <a:ext cx="10515600" cy="1325563"/>
          </a:xfrm>
        </p:spPr>
        <p:txBody>
          <a:bodyPr/>
          <a:lstStyle/>
          <a:p>
            <a:r>
              <a:rPr lang="tr-TR" dirty="0"/>
              <a:t>Görüntü İşleme</a:t>
            </a:r>
          </a:p>
        </p:txBody>
      </p:sp>
      <p:sp>
        <p:nvSpPr>
          <p:cNvPr id="3" name="İçerik Yer Tutucusu 2">
            <a:extLst>
              <a:ext uri="{FF2B5EF4-FFF2-40B4-BE49-F238E27FC236}">
                <a16:creationId xmlns:a16="http://schemas.microsoft.com/office/drawing/2014/main" id="{5B2D4BA9-A6B4-3289-9EA6-97ED6160A05B}"/>
              </a:ext>
            </a:extLst>
          </p:cNvPr>
          <p:cNvSpPr>
            <a:spLocks noGrp="1"/>
          </p:cNvSpPr>
          <p:nvPr>
            <p:ph idx="1"/>
          </p:nvPr>
        </p:nvSpPr>
        <p:spPr>
          <a:xfrm>
            <a:off x="838200" y="1343817"/>
            <a:ext cx="11353800" cy="5495927"/>
          </a:xfrm>
        </p:spPr>
        <p:txBody>
          <a:bodyPr/>
          <a:lstStyle/>
          <a:p>
            <a:r>
              <a:rPr lang="tr-TR" dirty="0"/>
              <a:t>Görüntü işleme, görüntüyü dijital form haline getirerek spesifik görüntü elde etmek yada yazılımsal olarak görüntü üzerinde istenilen sonucu elde etmek için kullanılan bir yöntemdir. Günümüzde görüntü işleme tıp, askeri alanlar, güvenlik, yüz tanıma, duygu analizi, robotik, sınıflandırma gibi </a:t>
            </a:r>
            <a:r>
              <a:rPr lang="tr-TR" dirty="0" err="1"/>
              <a:t>pekçok</a:t>
            </a:r>
            <a:r>
              <a:rPr lang="tr-TR" dirty="0"/>
              <a:t> alanda kullanılmaktadır.</a:t>
            </a:r>
          </a:p>
          <a:p>
            <a:r>
              <a:rPr lang="tr-TR" dirty="0"/>
              <a:t>Görüntü işlemeyi matrisler üzerinde yapılan işlemler bütünü şeklinde de tanımlayabiliriz. Resimler çeşitli renklerin bir araya geldiği karelerden oluşmaktadır. Halbuki </a:t>
            </a:r>
            <a:r>
              <a:rPr lang="tr-TR" dirty="0" err="1"/>
              <a:t>resimi</a:t>
            </a:r>
            <a:r>
              <a:rPr lang="tr-TR" dirty="0"/>
              <a:t> en küçük parçalarına böldüğümüzde </a:t>
            </a:r>
            <a:r>
              <a:rPr lang="tr-TR" dirty="0" err="1"/>
              <a:t>pixsel</a:t>
            </a:r>
            <a:r>
              <a:rPr lang="tr-TR" dirty="0"/>
              <a:t> adını verdiğimiz matrislerden oluştuğunu görmekteyiz. Görüntü işleme yöntemlerinde pikseli oluşturan matris hücrelerinin üzerinden işlemler yapılmaktadır. Aşağıdaki Şekil 2’de görsel bir karakterin sayısallaştırılması gösterilmiştir. </a:t>
            </a:r>
          </a:p>
        </p:txBody>
      </p:sp>
    </p:spTree>
    <p:extLst>
      <p:ext uri="{BB962C8B-B14F-4D97-AF65-F5344CB8AC3E}">
        <p14:creationId xmlns:p14="http://schemas.microsoft.com/office/powerpoint/2010/main" val="1184088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C449997-038D-E6BE-CD52-368898A37E82}"/>
              </a:ext>
            </a:extLst>
          </p:cNvPr>
          <p:cNvSpPr>
            <a:spLocks noGrp="1"/>
          </p:cNvSpPr>
          <p:nvPr>
            <p:ph idx="1"/>
          </p:nvPr>
        </p:nvSpPr>
        <p:spPr>
          <a:xfrm>
            <a:off x="838200" y="490194"/>
            <a:ext cx="10515600" cy="5686769"/>
          </a:xfrm>
        </p:spPr>
        <p:txBody>
          <a:bodyPr/>
          <a:lstStyle/>
          <a:p>
            <a:r>
              <a:rPr lang="tr-TR" dirty="0"/>
              <a:t>Görüntü işlemede c, c++, </a:t>
            </a:r>
            <a:r>
              <a:rPr lang="tr-TR" dirty="0" err="1"/>
              <a:t>python</a:t>
            </a:r>
            <a:r>
              <a:rPr lang="tr-TR" dirty="0"/>
              <a:t> gibi yazılım dillerinin yanı sıra amaca uygun çeşitli kütüphanelerde kullanılmaktadır. </a:t>
            </a:r>
            <a:r>
              <a:rPr lang="tr-TR" dirty="0" err="1"/>
              <a:t>OpenCV</a:t>
            </a:r>
            <a:r>
              <a:rPr lang="tr-TR" dirty="0"/>
              <a:t> gibi popüler kütüphanelerin </a:t>
            </a:r>
            <a:r>
              <a:rPr lang="tr-TR" dirty="0" err="1"/>
              <a:t>yanısıra</a:t>
            </a:r>
            <a:r>
              <a:rPr lang="tr-TR" dirty="0"/>
              <a:t> MATLAB programlama </a:t>
            </a:r>
            <a:r>
              <a:rPr lang="tr-TR" dirty="0" err="1"/>
              <a:t>dilide</a:t>
            </a:r>
            <a:r>
              <a:rPr lang="tr-TR" dirty="0"/>
              <a:t> görüntü işlemede en çok kullanılan programlama dilleri arasındadır. MATLAB (</a:t>
            </a:r>
            <a:r>
              <a:rPr lang="tr-TR" dirty="0" err="1"/>
              <a:t>MATrix</a:t>
            </a:r>
            <a:r>
              <a:rPr lang="tr-TR" dirty="0"/>
              <a:t> </a:t>
            </a:r>
            <a:r>
              <a:rPr lang="tr-TR" dirty="0" err="1"/>
              <a:t>LABoratory</a:t>
            </a:r>
            <a:r>
              <a:rPr lang="tr-TR" dirty="0"/>
              <a:t>), 1985’de C.B </a:t>
            </a:r>
            <a:r>
              <a:rPr lang="tr-TR" dirty="0" err="1"/>
              <a:t>Moler</a:t>
            </a:r>
            <a:r>
              <a:rPr lang="tr-TR" dirty="0"/>
              <a:t> tarafından, özellikle matris temelli matematik ortamında kullanılmak üzere geliştirilmiş etkileşimli bir paket programlama dilidir. Yapılan çalışmada Matlab R2013a programı kullanılmıştır. </a:t>
            </a:r>
          </a:p>
        </p:txBody>
      </p:sp>
    </p:spTree>
    <p:extLst>
      <p:ext uri="{BB962C8B-B14F-4D97-AF65-F5344CB8AC3E}">
        <p14:creationId xmlns:p14="http://schemas.microsoft.com/office/powerpoint/2010/main" val="610255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F2EA234-29DF-5D13-F9B2-77D3CA4C6282}"/>
              </a:ext>
            </a:extLst>
          </p:cNvPr>
          <p:cNvSpPr>
            <a:spLocks noGrp="1"/>
          </p:cNvSpPr>
          <p:nvPr>
            <p:ph type="title"/>
          </p:nvPr>
        </p:nvSpPr>
        <p:spPr>
          <a:xfrm>
            <a:off x="838200" y="18255"/>
            <a:ext cx="10515600" cy="1325563"/>
          </a:xfrm>
        </p:spPr>
        <p:txBody>
          <a:bodyPr/>
          <a:lstStyle/>
          <a:p>
            <a:r>
              <a:rPr lang="tr-TR" dirty="0"/>
              <a:t>Uygulama</a:t>
            </a:r>
          </a:p>
        </p:txBody>
      </p:sp>
      <p:sp>
        <p:nvSpPr>
          <p:cNvPr id="3" name="İçerik Yer Tutucusu 2">
            <a:extLst>
              <a:ext uri="{FF2B5EF4-FFF2-40B4-BE49-F238E27FC236}">
                <a16:creationId xmlns:a16="http://schemas.microsoft.com/office/drawing/2014/main" id="{97502AEE-52A1-6F2D-C844-92F623BADAF5}"/>
              </a:ext>
            </a:extLst>
          </p:cNvPr>
          <p:cNvSpPr>
            <a:spLocks noGrp="1"/>
          </p:cNvSpPr>
          <p:nvPr>
            <p:ph idx="1"/>
          </p:nvPr>
        </p:nvSpPr>
        <p:spPr>
          <a:xfrm>
            <a:off x="838200" y="1234911"/>
            <a:ext cx="11353800" cy="5604833"/>
          </a:xfrm>
        </p:spPr>
        <p:txBody>
          <a:bodyPr>
            <a:normAutofit lnSpcReduction="10000"/>
          </a:bodyPr>
          <a:lstStyle/>
          <a:p>
            <a:r>
              <a:rPr lang="tr-TR" dirty="0"/>
              <a:t>Yapılan çalışmada ülkemizde yaygın olarak yetiştirilen kiraz meyvesi ele alınmıştır. Kirazların görüntü işleme yöntemi ile sınıflandırılması için Matlab R2013a programı kullanılmıştır. Sınıflandırma işlemi yapılacak kirazlar Türk Standardı Tasarısı 793’de belirlenen veriler ve diğer kaynaklardan elde edilen boyut standartlarına göre sınıflandırılmıştır.</a:t>
            </a:r>
          </a:p>
          <a:p>
            <a:r>
              <a:rPr lang="tr-TR" dirty="0"/>
              <a:t>İşlenmiş olarak sisteme yüklenen resim siyah- beyaz piksellere dönüştürülmektedir. Resmin siyah-beyaz piksellere yani </a:t>
            </a:r>
            <a:r>
              <a:rPr lang="tr-TR" dirty="0" err="1"/>
              <a:t>binary</a:t>
            </a:r>
            <a:r>
              <a:rPr lang="tr-TR" dirty="0"/>
              <a:t> moda dönüştürülmesi iki aşamada gerçekleşmektedir. İlk aşamada resmin arka planı beyaza kirazlar ise siyaha dönüştürülmektedir. </a:t>
            </a:r>
          </a:p>
          <a:p>
            <a:r>
              <a:rPr lang="tr-TR" dirty="0"/>
              <a:t>Resim siyah-beyaz piksellere dönüştürülüp ters çevirme işlemi uygulandıktan sonra resimde bulunan belirli boyutun altındaki gürültü olarak tabir edilen nesneler Matlab </a:t>
            </a:r>
            <a:r>
              <a:rPr lang="tr-TR" dirty="0" err="1"/>
              <a:t>bwareaopen</a:t>
            </a:r>
            <a:r>
              <a:rPr lang="tr-TR" dirty="0"/>
              <a:t> komutu ile kaldırılmıştır. Daha sonra program tarafından tespit edilen kirazların sınırları eşikleme yöntemi kullanılarak mavi renk ile belirlenmiş ve resimde bulunan nesne sayısı ekrana yansıtılmıştır. </a:t>
            </a:r>
          </a:p>
        </p:txBody>
      </p:sp>
    </p:spTree>
    <p:extLst>
      <p:ext uri="{BB962C8B-B14F-4D97-AF65-F5344CB8AC3E}">
        <p14:creationId xmlns:p14="http://schemas.microsoft.com/office/powerpoint/2010/main" val="2384882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AD19FE-C54C-095D-15B8-53B29C7AE265}"/>
              </a:ext>
            </a:extLst>
          </p:cNvPr>
          <p:cNvSpPr>
            <a:spLocks noGrp="1"/>
          </p:cNvSpPr>
          <p:nvPr>
            <p:ph type="title"/>
          </p:nvPr>
        </p:nvSpPr>
        <p:spPr/>
        <p:txBody>
          <a:bodyPr/>
          <a:lstStyle/>
          <a:p>
            <a:r>
              <a:rPr lang="tr-TR" dirty="0"/>
              <a:t>Araştırma Sonuçları ve Tartışma</a:t>
            </a:r>
          </a:p>
        </p:txBody>
      </p:sp>
      <p:sp>
        <p:nvSpPr>
          <p:cNvPr id="3" name="İçerik Yer Tutucusu 2">
            <a:extLst>
              <a:ext uri="{FF2B5EF4-FFF2-40B4-BE49-F238E27FC236}">
                <a16:creationId xmlns:a16="http://schemas.microsoft.com/office/drawing/2014/main" id="{3344B143-D798-9704-7F8B-1CF16F93F2D0}"/>
              </a:ext>
            </a:extLst>
          </p:cNvPr>
          <p:cNvSpPr>
            <a:spLocks noGrp="1"/>
          </p:cNvSpPr>
          <p:nvPr>
            <p:ph idx="1"/>
          </p:nvPr>
        </p:nvSpPr>
        <p:spPr/>
        <p:txBody>
          <a:bodyPr/>
          <a:lstStyle/>
          <a:p>
            <a:r>
              <a:rPr lang="tr-TR" dirty="0"/>
              <a:t>Sınırları belirlenen kirazlar belirli işlemlerden geçirildikten sonra kirazlara ait alan bilgileri hesaplanmıştır. Hesaplanan alan verileri yukarıdaki Tablo 1’de belirlenen boyut standartlarına göre değerlendirilmiş ve değerlendirme sonucunda kirazlar boyutlarına göre sınıflandırılmıştır.</a:t>
            </a:r>
          </a:p>
        </p:txBody>
      </p:sp>
    </p:spTree>
    <p:extLst>
      <p:ext uri="{BB962C8B-B14F-4D97-AF65-F5344CB8AC3E}">
        <p14:creationId xmlns:p14="http://schemas.microsoft.com/office/powerpoint/2010/main" val="1479854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D8FFB90-E9B3-5ADE-230E-9730837F33EC}"/>
              </a:ext>
            </a:extLst>
          </p:cNvPr>
          <p:cNvSpPr>
            <a:spLocks noGrp="1"/>
          </p:cNvSpPr>
          <p:nvPr>
            <p:ph type="title"/>
          </p:nvPr>
        </p:nvSpPr>
        <p:spPr/>
        <p:txBody>
          <a:bodyPr/>
          <a:lstStyle/>
          <a:p>
            <a:r>
              <a:rPr lang="tr-TR" dirty="0"/>
              <a:t>Sonuç</a:t>
            </a:r>
          </a:p>
        </p:txBody>
      </p:sp>
      <p:sp>
        <p:nvSpPr>
          <p:cNvPr id="3" name="İçerik Yer Tutucusu 2">
            <a:extLst>
              <a:ext uri="{FF2B5EF4-FFF2-40B4-BE49-F238E27FC236}">
                <a16:creationId xmlns:a16="http://schemas.microsoft.com/office/drawing/2014/main" id="{FF83C84D-352F-8F1E-3637-B33983E550BE}"/>
              </a:ext>
            </a:extLst>
          </p:cNvPr>
          <p:cNvSpPr>
            <a:spLocks noGrp="1"/>
          </p:cNvSpPr>
          <p:nvPr>
            <p:ph idx="1"/>
          </p:nvPr>
        </p:nvSpPr>
        <p:spPr>
          <a:xfrm>
            <a:off x="838200" y="1825624"/>
            <a:ext cx="11353800" cy="5032375"/>
          </a:xfrm>
        </p:spPr>
        <p:txBody>
          <a:bodyPr>
            <a:normAutofit fontScale="92500" lnSpcReduction="20000"/>
          </a:bodyPr>
          <a:lstStyle/>
          <a:p>
            <a:r>
              <a:rPr lang="tr-TR" dirty="0"/>
              <a:t>Yapılan çalışmada, Ülkemizde yaygın olarak yetiştirilen ve en önemli ihracat ürünlerinden birisi olan kiraz meyvesinin klasik sınıflandırma yöntemleri yerine görüntü işleme teknikleri ile sınıflandırılması sağlanmıştır. Bu sayede önemli ihracat ürünlerinden biri olan kiraz meyvesinin uluslararası standartlara uygun olarak tasnif edilmesi sağlanacak ve ülke ekonomisine katkısı dahada arttırılacaktır. Yapılan çalışmada kiraz meyvesinin referans boyut değerleri isteğe göre değiştirilerek farklı boyutlarda sınıflama işlemleri de gerçekleştirilebilmektedir. Ayrıca kiraz meyvesinin sınıflandırılması için uygulanan algoritma ve filtreleme yöntemleri farklı meyvelerin sınıflandırılmasında da kullanılabilmektedir. Bu amaçla farklı meyvelere ait boyut bilgileri sisteme girilerek farklı meyvelerinde sınıflandırılması sağlanabilmektedir. Yapılan çalışma ile farklı büyüklükteki meyveler sistem tarafından başarılı bir şekilde değerlendirilerek sınıflandırılmıştır. Bu sayede kalite ve pazarlama için önemli bir etken olan sınıflandırma işlemi gerçekleştirilmiştir. Matlab programında görüntü işleme yöntemleri ile kiraz meyvesinin sınıflandırılması üzerine yapılmış bu çalışma, diğer çalışmalar içinde bir örnek teşkil edecektir</a:t>
            </a:r>
          </a:p>
        </p:txBody>
      </p:sp>
    </p:spTree>
    <p:extLst>
      <p:ext uri="{BB962C8B-B14F-4D97-AF65-F5344CB8AC3E}">
        <p14:creationId xmlns:p14="http://schemas.microsoft.com/office/powerpoint/2010/main" val="288202718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1072</Words>
  <Application>Microsoft Office PowerPoint</Application>
  <PresentationFormat>Geniş ekran</PresentationFormat>
  <Paragraphs>28</Paragraphs>
  <Slides>11</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11</vt:i4>
      </vt:variant>
    </vt:vector>
  </HeadingPairs>
  <TitlesOfParts>
    <vt:vector size="15" baseType="lpstr">
      <vt:lpstr>Arial</vt:lpstr>
      <vt:lpstr>Calibri</vt:lpstr>
      <vt:lpstr>Calibri Light</vt:lpstr>
      <vt:lpstr>Office Teması</vt:lpstr>
      <vt:lpstr>GÖRÜNTÜ İŞLEME TEKNİKLERİ</vt:lpstr>
      <vt:lpstr>Özet</vt:lpstr>
      <vt:lpstr>Giriş</vt:lpstr>
      <vt:lpstr>PowerPoint Sunusu</vt:lpstr>
      <vt:lpstr>Kiraz Meyvesi</vt:lpstr>
      <vt:lpstr>PowerPoint Sunusu</vt:lpstr>
      <vt:lpstr>Görüntü İşleme</vt:lpstr>
      <vt:lpstr>PowerPoint Sunusu</vt:lpstr>
      <vt:lpstr>Uygulama</vt:lpstr>
      <vt:lpstr>Araştırma Sonuçları ve Tartışma</vt:lpstr>
      <vt:lpstr>Sonuç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dc:title>
  <dc:creator>txkwz</dc:creator>
  <cp:lastModifiedBy>txkwz</cp:lastModifiedBy>
  <cp:revision>1</cp:revision>
  <dcterms:created xsi:type="dcterms:W3CDTF">2022-11-17T20:24:32Z</dcterms:created>
  <dcterms:modified xsi:type="dcterms:W3CDTF">2022-11-17T20:39:59Z</dcterms:modified>
</cp:coreProperties>
</file>