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0" r:id="rId7"/>
    <p:sldId id="261" r:id="rId8"/>
    <p:sldId id="262" r:id="rId9"/>
    <p:sldId id="263" r:id="rId10"/>
    <p:sldId id="265" r:id="rId1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75D93A-70BB-361E-B637-FD3DD338217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01D94AEA-799F-E58B-267D-25D26B727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A11AED2D-F4D5-6FBB-FACC-5D3D358F3C04}"/>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C2C00312-829C-1FFC-C6E8-8663F8C3216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5906C02-C638-57ED-A3A1-956FC15B6D44}"/>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306790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23C83BF-375C-1599-80A1-46E11D38997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7E30F2F-5CAB-D6BB-4589-232A0AA4102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54262CD-1D94-0AC5-492A-A9E3EFE2332A}"/>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366BDD45-11FC-5909-00B4-E6469974E36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E130B46-F592-0168-61A0-B1E5A0593E5F}"/>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148184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1D76953-150B-ACFC-4A6E-8D24C9A5D98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AF64143D-1FBB-0D33-7807-37C0410BA7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A32DA27-79F2-62D5-7F24-74D3BDA7EEA9}"/>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DEE8A7DB-1F60-95F4-9B64-C275405CF28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39B23BF-CC90-FA58-8303-BEFE42AF074F}"/>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3589041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F0010A-4FCD-E2F1-1863-451FE11E703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2153523-9007-0986-B2EB-817B47E5BC95}"/>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D58028FE-79C0-ED05-6226-AC6863A5DBAC}"/>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2F04A03E-5B3E-50BC-782E-6FF9155250B8}"/>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6" name="Alt Bilgi Yer Tutucusu 5">
            <a:extLst>
              <a:ext uri="{FF2B5EF4-FFF2-40B4-BE49-F238E27FC236}">
                <a16:creationId xmlns:a16="http://schemas.microsoft.com/office/drawing/2014/main" id="{D5F4B22D-2627-3FBA-11EB-B1EDFE303EC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F3BFA5D-9019-FBDB-78B4-FC76B2D58551}"/>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3589371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E48290-A666-165B-DC19-E4CA49329973}"/>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60D296C-DDC3-C56A-1CDC-F3A50317BD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4B3D2737-52B4-8499-60EE-D7A0FB512F85}"/>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D00591D-9C5C-AA10-6961-CB86746BC3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EA06152C-12C3-CB41-F5FC-61C4141F16AD}"/>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23C1EB74-83AE-580F-A62A-86977841DF18}"/>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8" name="Alt Bilgi Yer Tutucusu 7">
            <a:extLst>
              <a:ext uri="{FF2B5EF4-FFF2-40B4-BE49-F238E27FC236}">
                <a16:creationId xmlns:a16="http://schemas.microsoft.com/office/drawing/2014/main" id="{206C211D-220A-210A-920C-495CAB838AE3}"/>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074E9B9F-D33F-5C70-9906-05322DD2162B}"/>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593637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7A0B23-CF9C-1802-A1CF-795D364FBE5C}"/>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87EEFF0-4278-21AC-8FA4-C34F2D153B4A}"/>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4" name="Alt Bilgi Yer Tutucusu 3">
            <a:extLst>
              <a:ext uri="{FF2B5EF4-FFF2-40B4-BE49-F238E27FC236}">
                <a16:creationId xmlns:a16="http://schemas.microsoft.com/office/drawing/2014/main" id="{845CDF14-F9A3-6780-9A39-07351AA4F161}"/>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E0D0F499-9EF1-6F30-9EF4-F4272D779E5A}"/>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255940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4AA31829-B5DB-CA67-1E60-CB35276D6D08}"/>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3" name="Alt Bilgi Yer Tutucusu 2">
            <a:extLst>
              <a:ext uri="{FF2B5EF4-FFF2-40B4-BE49-F238E27FC236}">
                <a16:creationId xmlns:a16="http://schemas.microsoft.com/office/drawing/2014/main" id="{A0ED5C57-101B-9ECC-43E5-DA663A17AB3F}"/>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08D6E543-4060-7D68-D3AD-9F95F5F225D2}"/>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427963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E3086B-BF3D-1000-8B77-7345DA40B93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9093EB88-E6A7-E3D5-50EE-5972AB247E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5FC49DE7-28CA-5A86-3754-4A242E13A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F2855D3-705C-3FC0-DBDB-813FD99E5E69}"/>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6" name="Alt Bilgi Yer Tutucusu 5">
            <a:extLst>
              <a:ext uri="{FF2B5EF4-FFF2-40B4-BE49-F238E27FC236}">
                <a16:creationId xmlns:a16="http://schemas.microsoft.com/office/drawing/2014/main" id="{4EA9EF87-0ADF-6D34-513C-9073C964523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1EA7197-5B43-0C43-EFB6-375EB6B72C90}"/>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4233290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89A72E-B5DF-917B-2D4D-F8180A5AE06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AD9D30D-1570-BFCB-B7E9-DEB1AA3D87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394C512-407F-6055-1A07-B08FB6FAF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4DF7E1E3-2B74-8376-6129-8F53E13D592C}"/>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6" name="Alt Bilgi Yer Tutucusu 5">
            <a:extLst>
              <a:ext uri="{FF2B5EF4-FFF2-40B4-BE49-F238E27FC236}">
                <a16:creationId xmlns:a16="http://schemas.microsoft.com/office/drawing/2014/main" id="{0D0C666F-744A-876F-EE45-F5267462EF7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FDF492D-1D7D-7703-F97F-C96763C5AA44}"/>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409309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1AA715-22E8-A2BB-F92C-5093CF7D7E7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BF9A8CCF-6D82-3A20-8D8B-DAABA6C46086}"/>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89D3976-711D-6F58-E399-79B33CD6A612}"/>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FF8DCCEC-FE5D-44A7-0C1B-9F3F03E2D0C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1AEB691-0E0E-9EA5-6DFD-F9BBA956C6DA}"/>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1280448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808C3A9A-CFE2-0C25-12E8-1EEA5546685E}"/>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AAB01E6-A249-631D-6C4B-581FC2396EE2}"/>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BA96B40-A26C-8FC1-E460-8A7E9560F344}"/>
              </a:ext>
            </a:extLst>
          </p:cNvPr>
          <p:cNvSpPr>
            <a:spLocks noGrp="1"/>
          </p:cNvSpPr>
          <p:nvPr>
            <p:ph type="dt" sz="half" idx="10"/>
          </p:nvPr>
        </p:nvSpPr>
        <p:spPr/>
        <p:txBody>
          <a:body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7B3FDAF3-930F-0F97-D783-6B618418B74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66E934B-8D5D-69F7-0F86-787F384E9343}"/>
              </a:ext>
            </a:extLst>
          </p:cNvPr>
          <p:cNvSpPr>
            <a:spLocks noGrp="1"/>
          </p:cNvSpPr>
          <p:nvPr>
            <p:ph type="sldNum" sz="quarter" idx="12"/>
          </p:nvPr>
        </p:nvSpPr>
        <p:spPr/>
        <p:txBody>
          <a:bodyPr/>
          <a:lstStyle/>
          <a:p>
            <a:fld id="{7A46C936-E058-406E-A1D6-AD4427A8CF1C}" type="slidenum">
              <a:rPr lang="tr-TR" smtClean="0"/>
              <a:t>‹#›</a:t>
            </a:fld>
            <a:endParaRPr lang="tr-TR"/>
          </a:p>
        </p:txBody>
      </p:sp>
    </p:spTree>
    <p:extLst>
      <p:ext uri="{BB962C8B-B14F-4D97-AF65-F5344CB8AC3E}">
        <p14:creationId xmlns:p14="http://schemas.microsoft.com/office/powerpoint/2010/main" val="3007956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ACC6736-5676-789B-C121-CE3C922D6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49312AC-1DCC-41C1-F583-B80736B856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54B92E2-C092-8EEE-EDD3-07F70A427A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42CE34-E04F-4550-9008-A5D631D9B25B}" type="datetimeFigureOut">
              <a:rPr lang="tr-TR" smtClean="0"/>
              <a:t>10.11.2022</a:t>
            </a:fld>
            <a:endParaRPr lang="tr-TR"/>
          </a:p>
        </p:txBody>
      </p:sp>
      <p:sp>
        <p:nvSpPr>
          <p:cNvPr id="5" name="Alt Bilgi Yer Tutucusu 4">
            <a:extLst>
              <a:ext uri="{FF2B5EF4-FFF2-40B4-BE49-F238E27FC236}">
                <a16:creationId xmlns:a16="http://schemas.microsoft.com/office/drawing/2014/main" id="{FCBB0212-1568-9B3C-879B-DF9DB6368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F41B09A9-D269-007D-E99A-725D5967D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6C936-E058-406E-A1D6-AD4427A8CF1C}" type="slidenum">
              <a:rPr lang="tr-TR" smtClean="0"/>
              <a:t>‹#›</a:t>
            </a:fld>
            <a:endParaRPr lang="tr-TR"/>
          </a:p>
        </p:txBody>
      </p:sp>
    </p:spTree>
    <p:extLst>
      <p:ext uri="{BB962C8B-B14F-4D97-AF65-F5344CB8AC3E}">
        <p14:creationId xmlns:p14="http://schemas.microsoft.com/office/powerpoint/2010/main" val="59784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942E24-1865-D714-873C-08C09A6827F5}"/>
              </a:ext>
            </a:extLst>
          </p:cNvPr>
          <p:cNvSpPr>
            <a:spLocks noGrp="1"/>
          </p:cNvSpPr>
          <p:nvPr>
            <p:ph type="ctrTitle"/>
          </p:nvPr>
        </p:nvSpPr>
        <p:spPr>
          <a:xfrm>
            <a:off x="0" y="2554664"/>
            <a:ext cx="12192000" cy="989814"/>
          </a:xfrm>
        </p:spPr>
        <p:txBody>
          <a:bodyPr>
            <a:normAutofit/>
          </a:bodyPr>
          <a:lstStyle/>
          <a:p>
            <a:r>
              <a:rPr lang="tr-TR" dirty="0"/>
              <a:t>GÖRÜNTÜ İŞLEME TEKNİKLERİ</a:t>
            </a:r>
          </a:p>
        </p:txBody>
      </p:sp>
      <p:sp>
        <p:nvSpPr>
          <p:cNvPr id="3" name="Alt Başlık 2">
            <a:extLst>
              <a:ext uri="{FF2B5EF4-FFF2-40B4-BE49-F238E27FC236}">
                <a16:creationId xmlns:a16="http://schemas.microsoft.com/office/drawing/2014/main" id="{7C70418D-10A6-B2C6-438C-91BC89D3AAE7}"/>
              </a:ext>
            </a:extLst>
          </p:cNvPr>
          <p:cNvSpPr>
            <a:spLocks noGrp="1"/>
          </p:cNvSpPr>
          <p:nvPr>
            <p:ph type="subTitle" idx="1"/>
          </p:nvPr>
        </p:nvSpPr>
        <p:spPr>
          <a:xfrm>
            <a:off x="1524000" y="4233634"/>
            <a:ext cx="9144000" cy="1655762"/>
          </a:xfrm>
        </p:spPr>
        <p:txBody>
          <a:bodyPr/>
          <a:lstStyle/>
          <a:p>
            <a:r>
              <a:rPr lang="tr-TR" dirty="0"/>
              <a:t>Görüntü işleme teknikleri kullanılarak ekmek doku analizi ve arayüz programının geliştirilmesi</a:t>
            </a:r>
          </a:p>
        </p:txBody>
      </p:sp>
      <p:sp>
        <p:nvSpPr>
          <p:cNvPr id="4" name="Metin kutusu 3">
            <a:extLst>
              <a:ext uri="{FF2B5EF4-FFF2-40B4-BE49-F238E27FC236}">
                <a16:creationId xmlns:a16="http://schemas.microsoft.com/office/drawing/2014/main" id="{536B328A-AC98-1DDB-5F97-4736BFD79B9F}"/>
              </a:ext>
            </a:extLst>
          </p:cNvPr>
          <p:cNvSpPr txBox="1"/>
          <p:nvPr/>
        </p:nvSpPr>
        <p:spPr>
          <a:xfrm>
            <a:off x="207389" y="254524"/>
            <a:ext cx="4157221" cy="646331"/>
          </a:xfrm>
          <a:prstGeom prst="rect">
            <a:avLst/>
          </a:prstGeom>
          <a:noFill/>
        </p:spPr>
        <p:txBody>
          <a:bodyPr wrap="square" rtlCol="0">
            <a:spAutoFit/>
          </a:bodyPr>
          <a:lstStyle/>
          <a:p>
            <a:r>
              <a:rPr lang="tr-TR" dirty="0"/>
              <a:t>Hazırlayan: Şevket KARABULUT 02205076038 </a:t>
            </a:r>
          </a:p>
        </p:txBody>
      </p:sp>
      <p:sp>
        <p:nvSpPr>
          <p:cNvPr id="5" name="Metin kutusu 4">
            <a:extLst>
              <a:ext uri="{FF2B5EF4-FFF2-40B4-BE49-F238E27FC236}">
                <a16:creationId xmlns:a16="http://schemas.microsoft.com/office/drawing/2014/main" id="{999AFFDE-49CC-28BE-4B26-F7CD4AC6CD59}"/>
              </a:ext>
            </a:extLst>
          </p:cNvPr>
          <p:cNvSpPr txBox="1"/>
          <p:nvPr/>
        </p:nvSpPr>
        <p:spPr>
          <a:xfrm>
            <a:off x="10668000" y="208357"/>
            <a:ext cx="2105320" cy="369332"/>
          </a:xfrm>
          <a:prstGeom prst="rect">
            <a:avLst/>
          </a:prstGeom>
          <a:noFill/>
        </p:spPr>
        <p:txBody>
          <a:bodyPr wrap="square" rtlCol="0">
            <a:spAutoFit/>
          </a:bodyPr>
          <a:lstStyle/>
          <a:p>
            <a:r>
              <a:rPr lang="tr-TR" dirty="0"/>
              <a:t>10.11.2022</a:t>
            </a:r>
          </a:p>
        </p:txBody>
      </p:sp>
    </p:spTree>
    <p:extLst>
      <p:ext uri="{BB962C8B-B14F-4D97-AF65-F5344CB8AC3E}">
        <p14:creationId xmlns:p14="http://schemas.microsoft.com/office/powerpoint/2010/main" val="3941164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90AF86-3459-B553-7C5D-1B0A597FDF75}"/>
              </a:ext>
            </a:extLst>
          </p:cNvPr>
          <p:cNvSpPr>
            <a:spLocks noGrp="1"/>
          </p:cNvSpPr>
          <p:nvPr>
            <p:ph type="title"/>
          </p:nvPr>
        </p:nvSpPr>
        <p:spPr/>
        <p:txBody>
          <a:bodyPr/>
          <a:lstStyle/>
          <a:p>
            <a:r>
              <a:rPr lang="tr-TR" dirty="0"/>
              <a:t>Önsöz</a:t>
            </a:r>
          </a:p>
        </p:txBody>
      </p:sp>
      <p:sp>
        <p:nvSpPr>
          <p:cNvPr id="3" name="İçerik Yer Tutucusu 2">
            <a:extLst>
              <a:ext uri="{FF2B5EF4-FFF2-40B4-BE49-F238E27FC236}">
                <a16:creationId xmlns:a16="http://schemas.microsoft.com/office/drawing/2014/main" id="{1AEC849F-100C-15F7-6C97-50C9A89C5A7A}"/>
              </a:ext>
            </a:extLst>
          </p:cNvPr>
          <p:cNvSpPr>
            <a:spLocks noGrp="1"/>
          </p:cNvSpPr>
          <p:nvPr>
            <p:ph idx="1"/>
          </p:nvPr>
        </p:nvSpPr>
        <p:spPr/>
        <p:txBody>
          <a:bodyPr/>
          <a:lstStyle/>
          <a:p>
            <a:r>
              <a:rPr lang="tr-TR" dirty="0"/>
              <a:t>Görüntü işleme tekniklerinin katkıları oldukça fazladır. Genel olarak her alanda kullanılan bu teknik bir ekmeğin kalitesini de kontrol edebilecek yapıya sahiptir. Bu sunumda, görüntü işleme teknikleri kullanılarak ekmeğin kalitesini ölçmeyi, uygunluğunu görmeyi anlatacağız.</a:t>
            </a:r>
          </a:p>
        </p:txBody>
      </p:sp>
    </p:spTree>
    <p:extLst>
      <p:ext uri="{BB962C8B-B14F-4D97-AF65-F5344CB8AC3E}">
        <p14:creationId xmlns:p14="http://schemas.microsoft.com/office/powerpoint/2010/main" val="1592876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840759-ED66-84AF-8E55-E45B8E030852}"/>
              </a:ext>
            </a:extLst>
          </p:cNvPr>
          <p:cNvSpPr>
            <a:spLocks noGrp="1"/>
          </p:cNvSpPr>
          <p:nvPr>
            <p:ph type="title"/>
          </p:nvPr>
        </p:nvSpPr>
        <p:spPr/>
        <p:txBody>
          <a:bodyPr/>
          <a:lstStyle/>
          <a:p>
            <a:r>
              <a:rPr lang="tr-TR" dirty="0"/>
              <a:t>Özet</a:t>
            </a:r>
          </a:p>
        </p:txBody>
      </p:sp>
      <p:sp>
        <p:nvSpPr>
          <p:cNvPr id="3" name="İçerik Yer Tutucusu 2">
            <a:extLst>
              <a:ext uri="{FF2B5EF4-FFF2-40B4-BE49-F238E27FC236}">
                <a16:creationId xmlns:a16="http://schemas.microsoft.com/office/drawing/2014/main" id="{DC59E493-15C5-41C1-D446-0A65D6988EDF}"/>
              </a:ext>
            </a:extLst>
          </p:cNvPr>
          <p:cNvSpPr>
            <a:spLocks noGrp="1"/>
          </p:cNvSpPr>
          <p:nvPr>
            <p:ph idx="1"/>
          </p:nvPr>
        </p:nvSpPr>
        <p:spPr/>
        <p:txBody>
          <a:bodyPr>
            <a:normAutofit fontScale="77500" lnSpcReduction="20000"/>
          </a:bodyPr>
          <a:lstStyle/>
          <a:p>
            <a:r>
              <a:rPr lang="tr-TR" dirty="0"/>
              <a:t>Ekmek, içerisine konulan maddelerin miktarı ve cinsine bağlı olarak farklı kalitede üretilebilmektedir. Ekmek dokusundaki gözeneklerin, sayısı, yoğunluğu, alanı gibi yapısal özellikler ekmeğin kalitesi açısından önemli bilgiler içermektedir. Bu çalışmada DATEM (</a:t>
            </a:r>
            <a:r>
              <a:rPr lang="tr-TR" dirty="0" err="1"/>
              <a:t>Diacetil</a:t>
            </a:r>
            <a:r>
              <a:rPr lang="tr-TR" dirty="0"/>
              <a:t> </a:t>
            </a:r>
            <a:r>
              <a:rPr lang="tr-TR" dirty="0" err="1"/>
              <a:t>tartaric</a:t>
            </a:r>
            <a:r>
              <a:rPr lang="tr-TR" dirty="0"/>
              <a:t> </a:t>
            </a:r>
            <a:r>
              <a:rPr lang="tr-TR" dirty="0" err="1"/>
              <a:t>esters</a:t>
            </a:r>
            <a:r>
              <a:rPr lang="tr-TR" dirty="0"/>
              <a:t> of </a:t>
            </a:r>
            <a:r>
              <a:rPr lang="tr-TR" dirty="0" err="1"/>
              <a:t>monogliserid</a:t>
            </a:r>
            <a:r>
              <a:rPr lang="tr-TR" dirty="0"/>
              <a:t>) katkı maddesinin, fosfolipaz (FL) enziminin ve </a:t>
            </a:r>
            <a:r>
              <a:rPr lang="tr-TR" dirty="0" err="1"/>
              <a:t>glikolipaz</a:t>
            </a:r>
            <a:r>
              <a:rPr lang="tr-TR" dirty="0"/>
              <a:t> (GL) enziminin doğrudan ekmek yapım yöntemiyle üretilmiş ekmeklerdeki kaliteye olan etkisi belirlenmiştir. Bu amaçla, </a:t>
            </a:r>
            <a:r>
              <a:rPr lang="tr-TR" dirty="0" err="1"/>
              <a:t>Matlab’te</a:t>
            </a:r>
            <a:r>
              <a:rPr lang="tr-TR" dirty="0"/>
              <a:t> görüntü işleme teknikleri kullanılmış ve ekmek gözeneklerinin bölütlenmesi temelli bir yazılım oluşturulmuştur. Çalışmada, 104 farklı ekmek imgesi kullanılmıştır. Elde edilen sonuçlar </a:t>
            </a:r>
            <a:r>
              <a:rPr lang="tr-TR" dirty="0" err="1"/>
              <a:t>DATEM’in</a:t>
            </a:r>
            <a:r>
              <a:rPr lang="tr-TR" dirty="0"/>
              <a:t> ekmeğin gözenek yapısını iyileştirerek, konsantrasyonuyla doğru orantılı olarak ekmek hacmini arttırdığını göstermiştir. </a:t>
            </a:r>
            <a:r>
              <a:rPr lang="tr-TR" dirty="0" err="1"/>
              <a:t>FL’nin</a:t>
            </a:r>
            <a:r>
              <a:rPr lang="tr-TR" dirty="0"/>
              <a:t> 20 mg.kg-1 ve </a:t>
            </a:r>
            <a:r>
              <a:rPr lang="tr-TR" dirty="0" err="1"/>
              <a:t>GL’nin</a:t>
            </a:r>
            <a:r>
              <a:rPr lang="tr-TR" dirty="0"/>
              <a:t> 60 mg.kg-1 konsantrasyonlarında ise gözenek sayısı ve gözenek alanında artış olduğu da gözlemlenmiştir. Çalışmanın başarımının belirlenmesinde ZSI (</a:t>
            </a:r>
            <a:r>
              <a:rPr lang="tr-TR" dirty="0" err="1"/>
              <a:t>Zijdenbos</a:t>
            </a:r>
            <a:r>
              <a:rPr lang="tr-TR" dirty="0"/>
              <a:t> </a:t>
            </a:r>
            <a:r>
              <a:rPr lang="tr-TR" dirty="0" err="1"/>
              <a:t>Similarity</a:t>
            </a:r>
            <a:r>
              <a:rPr lang="tr-TR" dirty="0"/>
              <a:t> Index) indeksi kullanılmıştır. Elde edilen başarım indeks değerleri 0,87 ile 0,93 arasında değişmekte olup literatürde 0,7’den büyük değerler başarılı olarak kabul edilmektedir. Elde edilen sonuçlar, önerilen metodolojinin ekmek gözeneklerinin bölütlenmesine dayanan ekmek kalitesi analizinde kullanılabileceğini göstermiştir. </a:t>
            </a:r>
          </a:p>
        </p:txBody>
      </p:sp>
    </p:spTree>
    <p:extLst>
      <p:ext uri="{BB962C8B-B14F-4D97-AF65-F5344CB8AC3E}">
        <p14:creationId xmlns:p14="http://schemas.microsoft.com/office/powerpoint/2010/main" val="2886566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D40426-C02B-EBD4-D15A-A6A61C1B968F}"/>
              </a:ext>
            </a:extLst>
          </p:cNvPr>
          <p:cNvSpPr>
            <a:spLocks noGrp="1"/>
          </p:cNvSpPr>
          <p:nvPr>
            <p:ph type="title"/>
          </p:nvPr>
        </p:nvSpPr>
        <p:spPr/>
        <p:txBody>
          <a:bodyPr/>
          <a:lstStyle/>
          <a:p>
            <a:r>
              <a:rPr lang="tr-TR" dirty="0"/>
              <a:t>Ekmek Kalitesi</a:t>
            </a:r>
          </a:p>
        </p:txBody>
      </p:sp>
      <p:sp>
        <p:nvSpPr>
          <p:cNvPr id="3" name="İçerik Yer Tutucusu 2">
            <a:extLst>
              <a:ext uri="{FF2B5EF4-FFF2-40B4-BE49-F238E27FC236}">
                <a16:creationId xmlns:a16="http://schemas.microsoft.com/office/drawing/2014/main" id="{23CCCEFA-35FB-6D83-4068-383D1070CBA3}"/>
              </a:ext>
            </a:extLst>
          </p:cNvPr>
          <p:cNvSpPr>
            <a:spLocks noGrp="1"/>
          </p:cNvSpPr>
          <p:nvPr>
            <p:ph idx="1"/>
          </p:nvPr>
        </p:nvSpPr>
        <p:spPr>
          <a:xfrm>
            <a:off x="838200" y="1825624"/>
            <a:ext cx="11353800" cy="5032375"/>
          </a:xfrm>
        </p:spPr>
        <p:txBody>
          <a:bodyPr>
            <a:normAutofit/>
          </a:bodyPr>
          <a:lstStyle/>
          <a:p>
            <a:r>
              <a:rPr lang="tr-TR" dirty="0"/>
              <a:t>Ekmek hamurunun pişirilmesi sırasında ekmeğin gözenekli bir yapı haline geldiği görülür. Kalitesi yetersiz ekmekler düzensiz yapıda olup hızlı bayatlamaktadır. Ekmeğin bayatlaması ile farklılaşması görülür. Kalitesi yetersiz unla yapılan ekmeğe katkı maddesi ilavesi ile bayatlama ömrü uzatılır. DATEM bir katkı maddesidir. Ekmek içi doku dağılımı ömrü belirleyen önemli faktördür. Görüntü işleme teknikleri ile ekmek kalite analizleri yapılabilmektedir. Ursula Gonzales ve arkadaşlarının yapmış oldukları bir çalışmada ise, görüntü işleme tekniklerinden gri seviye eş oluşum matrisi, yakın komşuluk gri seviye fark matrisi ve spektrum bölgesinde Fourier analiz yöntemi kullanılarak 4 farklı organik ve organik olmayan undan yapılan ekmeklerde kalite analizi yapılmıştır. Analiz sonuncunda organik ekmekler daha büyük gözenekli bulunmuştur.</a:t>
            </a:r>
          </a:p>
        </p:txBody>
      </p:sp>
    </p:spTree>
    <p:extLst>
      <p:ext uri="{BB962C8B-B14F-4D97-AF65-F5344CB8AC3E}">
        <p14:creationId xmlns:p14="http://schemas.microsoft.com/office/powerpoint/2010/main" val="3715518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C6A9160-473D-A2C1-4048-B1E25A93F603}"/>
              </a:ext>
            </a:extLst>
          </p:cNvPr>
          <p:cNvSpPr>
            <a:spLocks noGrp="1"/>
          </p:cNvSpPr>
          <p:nvPr>
            <p:ph idx="1"/>
          </p:nvPr>
        </p:nvSpPr>
        <p:spPr>
          <a:xfrm>
            <a:off x="838200" y="311084"/>
            <a:ext cx="11353800" cy="6546915"/>
          </a:xfrm>
        </p:spPr>
        <p:txBody>
          <a:bodyPr/>
          <a:lstStyle/>
          <a:p>
            <a:r>
              <a:rPr lang="tr-TR" dirty="0"/>
              <a:t>Ekmek gözeneklerinin bölütlenmesine yönelik çalışmada </a:t>
            </a:r>
            <a:r>
              <a:rPr lang="tr-TR" dirty="0" err="1"/>
              <a:t>oksidansız</a:t>
            </a:r>
            <a:r>
              <a:rPr lang="tr-TR" dirty="0"/>
              <a:t> ve </a:t>
            </a:r>
            <a:r>
              <a:rPr lang="tr-TR" dirty="0" err="1"/>
              <a:t>oksidanlı</a:t>
            </a:r>
            <a:r>
              <a:rPr lang="tr-TR" dirty="0"/>
              <a:t> toplam 30 adet ekmek görüntüsüne K-</a:t>
            </a:r>
            <a:r>
              <a:rPr lang="tr-TR" dirty="0" err="1"/>
              <a:t>means</a:t>
            </a:r>
            <a:r>
              <a:rPr lang="tr-TR" dirty="0"/>
              <a:t> algoritması kullanılarak ekmek görüntü analizi yapılmış ve ekmeğe ait gözenek alanı vb. hesaplanmıştır. Elde edilen sonuçlar </a:t>
            </a:r>
            <a:r>
              <a:rPr lang="tr-TR" dirty="0" err="1"/>
              <a:t>oksidanlı</a:t>
            </a:r>
            <a:r>
              <a:rPr lang="tr-TR" dirty="0"/>
              <a:t> ekmeklerin </a:t>
            </a:r>
            <a:r>
              <a:rPr lang="tr-TR" dirty="0" err="1"/>
              <a:t>oksidansız</a:t>
            </a:r>
            <a:r>
              <a:rPr lang="tr-TR" dirty="0"/>
              <a:t> ekmeklere göre daha parlak daha yoğun görülmüştür.</a:t>
            </a:r>
          </a:p>
          <a:p>
            <a:r>
              <a:rPr lang="tr-TR" dirty="0"/>
              <a:t>Francis </a:t>
            </a:r>
            <a:r>
              <a:rPr lang="tr-TR" dirty="0" err="1"/>
              <a:t>Butler</a:t>
            </a:r>
            <a:r>
              <a:rPr lang="tr-TR" dirty="0"/>
              <a:t> ve arkadaşlarının yapmış oldukları bir çalışmada ise 135 ekmek dilimi görüntüsüne farklı eşikleme yöntemleri kullanılarak, ekmek kalite analizi yapılmıştır. Analizde ekmek gözeneklerine ait gözenek alanı, gözenek yoğunluğu, boşluk oranı gibi öznitelikler hesaplanmıştır.</a:t>
            </a:r>
          </a:p>
          <a:p>
            <a:endParaRPr lang="tr-TR" dirty="0"/>
          </a:p>
        </p:txBody>
      </p:sp>
    </p:spTree>
    <p:extLst>
      <p:ext uri="{BB962C8B-B14F-4D97-AF65-F5344CB8AC3E}">
        <p14:creationId xmlns:p14="http://schemas.microsoft.com/office/powerpoint/2010/main" val="266933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2905BB-81DE-CADE-3822-B6DE40810D3D}"/>
              </a:ext>
            </a:extLst>
          </p:cNvPr>
          <p:cNvSpPr>
            <a:spLocks noGrp="1"/>
          </p:cNvSpPr>
          <p:nvPr>
            <p:ph type="title"/>
          </p:nvPr>
        </p:nvSpPr>
        <p:spPr/>
        <p:txBody>
          <a:bodyPr/>
          <a:lstStyle/>
          <a:p>
            <a:r>
              <a:rPr lang="tr-TR" dirty="0"/>
              <a:t>Veri Kümesi Deneyi</a:t>
            </a:r>
          </a:p>
        </p:txBody>
      </p:sp>
      <p:sp>
        <p:nvSpPr>
          <p:cNvPr id="3" name="İçerik Yer Tutucusu 2">
            <a:extLst>
              <a:ext uri="{FF2B5EF4-FFF2-40B4-BE49-F238E27FC236}">
                <a16:creationId xmlns:a16="http://schemas.microsoft.com/office/drawing/2014/main" id="{235C7828-AFBF-FE6C-7A78-B2D1D4FAA287}"/>
              </a:ext>
            </a:extLst>
          </p:cNvPr>
          <p:cNvSpPr>
            <a:spLocks noGrp="1"/>
          </p:cNvSpPr>
          <p:nvPr>
            <p:ph idx="1"/>
          </p:nvPr>
        </p:nvSpPr>
        <p:spPr>
          <a:xfrm>
            <a:off x="838200" y="1825624"/>
            <a:ext cx="11353800" cy="5032375"/>
          </a:xfrm>
        </p:spPr>
        <p:txBody>
          <a:bodyPr>
            <a:normAutofit lnSpcReduction="10000"/>
          </a:bodyPr>
          <a:lstStyle/>
          <a:p>
            <a:r>
              <a:rPr lang="tr-TR" dirty="0"/>
              <a:t>Çalışmada kullanılan ekmek kesit alan görüntüleri doğrudan ekmek yapım yöntemiyle elde edilmiştir. Ekmek hazırlama içeriğine 1 kg un üzerinden, %3 maya, %1,5 tuz, 10 mg/kg </a:t>
            </a:r>
            <a:r>
              <a:rPr lang="tr-TR" dirty="0" err="1"/>
              <a:t>alfaamilaz</a:t>
            </a:r>
            <a:r>
              <a:rPr lang="tr-TR" dirty="0"/>
              <a:t> ve 75 mg/kg </a:t>
            </a:r>
            <a:r>
              <a:rPr lang="tr-TR" dirty="0" err="1"/>
              <a:t>askorbik</a:t>
            </a:r>
            <a:r>
              <a:rPr lang="tr-TR" dirty="0"/>
              <a:t> asit eklenerek başlanmıştır. Karışıma ilave edilecek su miktarı </a:t>
            </a:r>
            <a:r>
              <a:rPr lang="tr-TR" dirty="0" err="1"/>
              <a:t>farinogafta</a:t>
            </a:r>
            <a:r>
              <a:rPr lang="tr-TR" dirty="0"/>
              <a:t> belirlenmiş ve %62,6 oranında formülasyona su eklenmiştir. Tüm bileşenler bir yoğurucuda uygun kıvamda hamur oluşturuncaya kadar yoğrulmuş ve daha sonra 30°C’de %85 nispi nemde 30 dakika fermantasyona bırakılmıştır. Fermantasyon sonunda, silindir şekline getirilmiş hamur parçaları teflon pişirme kaplarında 60 dakika gelişmeye bırakılmış ve 220 °C’de 25 dakika döner tipte bir fırında pişirilmiştir. Fırından çıkartılan ekmekler oda sıcaklığında iki saat soğumaya bırakıldıktan sonra sonar analize tabi tutulmuştur. Analiz edilecek ekmekler önce, dilimleme makinesinde 25 mm kalınlıkta kesilmiş ve her bir ekmeğin ortasındaki/merkezindeki iki dilim analizlerde kullanılmak üzere ayrılmıştır.</a:t>
            </a:r>
          </a:p>
        </p:txBody>
      </p:sp>
    </p:spTree>
    <p:extLst>
      <p:ext uri="{BB962C8B-B14F-4D97-AF65-F5344CB8AC3E}">
        <p14:creationId xmlns:p14="http://schemas.microsoft.com/office/powerpoint/2010/main" val="397798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1BC21BB-C971-0846-62BB-DC20B46AB47C}"/>
              </a:ext>
            </a:extLst>
          </p:cNvPr>
          <p:cNvSpPr>
            <a:spLocks noGrp="1"/>
          </p:cNvSpPr>
          <p:nvPr>
            <p:ph idx="1"/>
          </p:nvPr>
        </p:nvSpPr>
        <p:spPr>
          <a:xfrm>
            <a:off x="829559" y="801278"/>
            <a:ext cx="11362441" cy="5957741"/>
          </a:xfrm>
        </p:spPr>
        <p:txBody>
          <a:bodyPr/>
          <a:lstStyle/>
          <a:p>
            <a:r>
              <a:rPr lang="tr-TR" dirty="0"/>
              <a:t>Görüntü işleme için belirlenen bu iki dilimin bir tarayıcı aracılığı ile görüntüsü bilgisayara aktarılmıştır. Tarayıcının parlaklık ve kontrast parametreleri, tüm görüntüler için sıfıra ayarlanmıştır. Görüntüler, 300 </a:t>
            </a:r>
            <a:r>
              <a:rPr lang="tr-TR" dirty="0" err="1"/>
              <a:t>DPI’da</a:t>
            </a:r>
            <a:r>
              <a:rPr lang="tr-TR" dirty="0"/>
              <a:t> ve RGB renkli olarak BMP formatında 3508*2552 piksel olarak bilgisayara kaydedilmiştir. Şekil 1’de orijinal ekmek görüntüleri gösterilmiş olup her bir görüntüde aynı konsantrasyona sahip 4 farklı ekmek dilimi görüntüsü bulunmaktadır. Çalışmada 104 farklı ekmek görüntüsü kullanılmış ve bunların 8 tanesi kontrol grubunu oluşturmaktadır. Bu kontrol grubunu oluşturan ekmeklerin yapımında hiçbir katkı maddesi kullanılmamıştır. </a:t>
            </a:r>
            <a:r>
              <a:rPr lang="it-IT" dirty="0"/>
              <a:t>32 tanesi ise DATEM katkı</a:t>
            </a:r>
            <a:r>
              <a:rPr lang="tr-TR" dirty="0"/>
              <a:t> maddesinin farklı konsantrasyonundan, 32 tanesi </a:t>
            </a:r>
            <a:r>
              <a:rPr lang="tr-TR" dirty="0" err="1"/>
              <a:t>lipopan</a:t>
            </a:r>
            <a:r>
              <a:rPr lang="tr-TR" dirty="0"/>
              <a:t> FBG fosfolipaz enziminin konsantrasyonlarından ve 32 tanesi ise </a:t>
            </a:r>
            <a:r>
              <a:rPr lang="tr-TR" dirty="0" err="1"/>
              <a:t>grindamyl</a:t>
            </a:r>
            <a:r>
              <a:rPr lang="tr-TR" dirty="0"/>
              <a:t> </a:t>
            </a:r>
            <a:r>
              <a:rPr lang="tr-TR" dirty="0" err="1"/>
              <a:t>glikolipaz</a:t>
            </a:r>
            <a:r>
              <a:rPr lang="tr-TR" dirty="0"/>
              <a:t> enziminin konsantrasyonlarından oluşmaktadır. </a:t>
            </a:r>
          </a:p>
        </p:txBody>
      </p:sp>
    </p:spTree>
    <p:extLst>
      <p:ext uri="{BB962C8B-B14F-4D97-AF65-F5344CB8AC3E}">
        <p14:creationId xmlns:p14="http://schemas.microsoft.com/office/powerpoint/2010/main" val="335854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62992C-DA1F-1846-ACC2-8BA009988C0A}"/>
              </a:ext>
            </a:extLst>
          </p:cNvPr>
          <p:cNvSpPr>
            <a:spLocks noGrp="1"/>
          </p:cNvSpPr>
          <p:nvPr>
            <p:ph type="title"/>
          </p:nvPr>
        </p:nvSpPr>
        <p:spPr>
          <a:xfrm>
            <a:off x="838200" y="1"/>
            <a:ext cx="11353800" cy="1696824"/>
          </a:xfrm>
        </p:spPr>
        <p:txBody>
          <a:bodyPr/>
          <a:lstStyle/>
          <a:p>
            <a:r>
              <a:rPr lang="tr-TR" dirty="0"/>
              <a:t>Sonuçlar</a:t>
            </a:r>
          </a:p>
        </p:txBody>
      </p:sp>
      <p:sp>
        <p:nvSpPr>
          <p:cNvPr id="3" name="İçerik Yer Tutucusu 2">
            <a:extLst>
              <a:ext uri="{FF2B5EF4-FFF2-40B4-BE49-F238E27FC236}">
                <a16:creationId xmlns:a16="http://schemas.microsoft.com/office/drawing/2014/main" id="{3EE63862-477F-ECB9-A669-7C50EB93351C}"/>
              </a:ext>
            </a:extLst>
          </p:cNvPr>
          <p:cNvSpPr>
            <a:spLocks noGrp="1"/>
          </p:cNvSpPr>
          <p:nvPr>
            <p:ph idx="1"/>
          </p:nvPr>
        </p:nvSpPr>
        <p:spPr>
          <a:xfrm>
            <a:off x="838200" y="1825625"/>
            <a:ext cx="11353800" cy="5032374"/>
          </a:xfrm>
        </p:spPr>
        <p:txBody>
          <a:bodyPr/>
          <a:lstStyle/>
          <a:p>
            <a:r>
              <a:rPr lang="tr-TR" dirty="0"/>
              <a:t>Yapılan çalışmada görüntü işleme teknikleri kullanılarak ekmek gözenekleri bölütlenmiştir. Bu sayede ekmek doku özellikleri belirlenerek katkı maddesinin cinsine, miktarına bağlı olarak ekmek yapısında meydana gelen değişimler ve gözeneklere ait sayısal veriler elde edilerek belirlenmiştir. Tablo 1’den DATEM katkı maddeli ekmeklerin kontrol grubu ekmeklere göre daha fazla gözenek sayısı ve gözenek alanına sahip olduğu görülmektedir. Buradan da DATEM katkı maddesinin ekmek hacmini arttırdığı sonucuna varılmıştır. Bu kapsamda en fazla gözenek sayısı ve en yüksek yoğunluk değerine %0,75’li yoğunlukta ulaşıldığı görülmüştür. Ayrıca %0,50 DATEM konsantrasyonunda boşluk oranının en yüksek olduğu görülmüştür.</a:t>
            </a:r>
          </a:p>
        </p:txBody>
      </p:sp>
    </p:spTree>
    <p:extLst>
      <p:ext uri="{BB962C8B-B14F-4D97-AF65-F5344CB8AC3E}">
        <p14:creationId xmlns:p14="http://schemas.microsoft.com/office/powerpoint/2010/main" val="1299043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2C8D96E-182B-84A9-4A77-3FA65DC6BC78}"/>
              </a:ext>
            </a:extLst>
          </p:cNvPr>
          <p:cNvSpPr>
            <a:spLocks noGrp="1"/>
          </p:cNvSpPr>
          <p:nvPr>
            <p:ph idx="1"/>
          </p:nvPr>
        </p:nvSpPr>
        <p:spPr>
          <a:xfrm>
            <a:off x="838200" y="678730"/>
            <a:ext cx="10515600" cy="6179270"/>
          </a:xfrm>
        </p:spPr>
        <p:txBody>
          <a:bodyPr/>
          <a:lstStyle/>
          <a:p>
            <a:r>
              <a:rPr lang="tr-TR" dirty="0"/>
              <a:t>FL katkı maddeli ekmeğin ise, 20’li konsantrasyonunun gözenek sayısı, toplam gözenek alanı ve yoğunluğunun en yüksek değerde olduğu görülmektedir. Ancak </a:t>
            </a:r>
            <a:r>
              <a:rPr lang="tr-TR" dirty="0" err="1"/>
              <a:t>DATEM’le</a:t>
            </a:r>
            <a:r>
              <a:rPr lang="tr-TR" dirty="0"/>
              <a:t> kıyaslandığında bu değerlerin daha küçük kaldığı görülmüştür. GL </a:t>
            </a:r>
            <a:r>
              <a:rPr lang="tr-TR" dirty="0" err="1"/>
              <a:t>enzimli</a:t>
            </a:r>
            <a:r>
              <a:rPr lang="tr-TR" dirty="0"/>
              <a:t> ekmeklerin 60 ve 90’lı konsantrasyonunda gözenek sayısı ve gözenek alanını arttırdığı, 120’li konsantrasyonunda ise gözenek sayısını azalttığı görülmektedir. Elde edilen sonuçlar FL ve GL lipaz enzimlerinin DATEM kadar olmasa da ekmek hacmine olumlu etki yaptığını göstermiştir</a:t>
            </a:r>
          </a:p>
        </p:txBody>
      </p:sp>
    </p:spTree>
    <p:extLst>
      <p:ext uri="{BB962C8B-B14F-4D97-AF65-F5344CB8AC3E}">
        <p14:creationId xmlns:p14="http://schemas.microsoft.com/office/powerpoint/2010/main" val="1599668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15B264-27D1-D94A-C209-DBC0DEBF6D76}"/>
              </a:ext>
            </a:extLst>
          </p:cNvPr>
          <p:cNvSpPr>
            <a:spLocks noGrp="1"/>
          </p:cNvSpPr>
          <p:nvPr>
            <p:ph type="title"/>
          </p:nvPr>
        </p:nvSpPr>
        <p:spPr/>
        <p:txBody>
          <a:bodyPr/>
          <a:lstStyle/>
          <a:p>
            <a:r>
              <a:rPr lang="tr-TR" dirty="0"/>
              <a:t>Kaynakça</a:t>
            </a:r>
          </a:p>
        </p:txBody>
      </p:sp>
      <p:sp>
        <p:nvSpPr>
          <p:cNvPr id="3" name="İçerik Yer Tutucusu 2">
            <a:extLst>
              <a:ext uri="{FF2B5EF4-FFF2-40B4-BE49-F238E27FC236}">
                <a16:creationId xmlns:a16="http://schemas.microsoft.com/office/drawing/2014/main" id="{E83F2CDE-F5C0-DBD5-2B58-6E8C3B4F6565}"/>
              </a:ext>
            </a:extLst>
          </p:cNvPr>
          <p:cNvSpPr>
            <a:spLocks noGrp="1"/>
          </p:cNvSpPr>
          <p:nvPr>
            <p:ph idx="1"/>
          </p:nvPr>
        </p:nvSpPr>
        <p:spPr/>
        <p:txBody>
          <a:bodyPr/>
          <a:lstStyle/>
          <a:p>
            <a:r>
              <a:rPr lang="en-US" dirty="0"/>
              <a:t>Journal of the Faculty of Engineering and Architecture of Gazi University 33:1 (2018) 31-41</a:t>
            </a:r>
            <a:endParaRPr lang="tr-TR" dirty="0"/>
          </a:p>
        </p:txBody>
      </p:sp>
    </p:spTree>
    <p:extLst>
      <p:ext uri="{BB962C8B-B14F-4D97-AF65-F5344CB8AC3E}">
        <p14:creationId xmlns:p14="http://schemas.microsoft.com/office/powerpoint/2010/main" val="349282483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899</Words>
  <Application>Microsoft Office PowerPoint</Application>
  <PresentationFormat>Geniş ekran</PresentationFormat>
  <Paragraphs>20</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Calibri Light</vt:lpstr>
      <vt:lpstr>Office Teması</vt:lpstr>
      <vt:lpstr>GÖRÜNTÜ İŞLEME TEKNİKLERİ</vt:lpstr>
      <vt:lpstr>Önsöz</vt:lpstr>
      <vt:lpstr>Özet</vt:lpstr>
      <vt:lpstr>Ekmek Kalitesi</vt:lpstr>
      <vt:lpstr>PowerPoint Sunusu</vt:lpstr>
      <vt:lpstr>Veri Kümesi Deneyi</vt:lpstr>
      <vt:lpstr>PowerPoint Sunusu</vt:lpstr>
      <vt:lpstr>Sonuçlar</vt:lpstr>
      <vt:lpstr>PowerPoint Sunusu</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dc:title>
  <dc:creator>txkwz</dc:creator>
  <cp:lastModifiedBy>txkwz</cp:lastModifiedBy>
  <cp:revision>3</cp:revision>
  <dcterms:created xsi:type="dcterms:W3CDTF">2022-11-10T15:47:17Z</dcterms:created>
  <dcterms:modified xsi:type="dcterms:W3CDTF">2022-11-10T20:43:37Z</dcterms:modified>
</cp:coreProperties>
</file>